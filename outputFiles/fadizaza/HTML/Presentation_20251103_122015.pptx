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7" r:id="rId1"/>
  </p:sldMasterIdLst>
  <p:sldIdLst>
    <p:sldId id="256" r:id="rId9"/>
    <p:sldId id="257" r:id="rId10"/>
    <p:sldId id="258" r:id="rId12"/>
    <p:sldId id="259" r:id="rId13"/>
    <p:sldId id="260" r:id="rId14"/>
    <p:sldId id="261" r:id="rId15"/>
  </p:sldIdLst>
  <p:sldSz cx="12192000" cy="6858000"/>
  <p:notesSz cx="6858000" cy="9144000"/>
  <p:custDataLst>
    <p:tags r:id="rId2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81AAA8-04EC-445F-ACFA-AA057D7A0A92}" v="6" dt="2025-05-20T09:40:47.7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92" d="100"/>
          <a:sy n="92" d="100"/>
        </p:scale>
        <p:origin x="77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2" Type="http://schemas.openxmlformats.org/officeDocument/2006/relationships/tags" Target="tags/tag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microsoft.com/office/2016/11/relationships/changesInfo" Target="changesInfos/changesInfo1.xml"/><Relationship Id="rId8" Type="http://schemas.microsoft.com/office/2015/10/relationships/revisionInfo" Target="revisionInfo.xml"/><Relationship Id="rId9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di Yaqoub Saeed Alzaza" userId="63ac727b-d974-45f0-978f-fb4fb15258d9" providerId="ADAL" clId="{4481AAA8-04EC-445F-ACFA-AA057D7A0A92}"/>
    <pc:docChg chg="addSld delSld modSld">
      <pc:chgData name="Fadi Yaqoub Saeed Alzaza" userId="63ac727b-d974-45f0-978f-fb4fb15258d9" providerId="ADAL" clId="{4481AAA8-04EC-445F-ACFA-AA057D7A0A92}" dt="2025-05-20T09:41:03.500" v="9" actId="47"/>
      <pc:docMkLst>
        <pc:docMk/>
      </pc:docMkLst>
      <pc:sldChg chg="new del">
        <pc:chgData name="Fadi Yaqoub Saeed Alzaza" userId="63ac727b-d974-45f0-978f-fb4fb15258d9" providerId="ADAL" clId="{4481AAA8-04EC-445F-ACFA-AA057D7A0A92}" dt="2025-05-20T09:41:03.500" v="9" actId="47"/>
        <pc:sldMkLst>
          <pc:docMk/>
          <pc:sldMk cId="1612610482" sldId="256"/>
        </pc:sldMkLst>
      </pc:sldChg>
      <pc:sldChg chg="modSp new del">
        <pc:chgData name="Fadi Yaqoub Saeed Alzaza" userId="63ac727b-d974-45f0-978f-fb4fb15258d9" providerId="ADAL" clId="{4481AAA8-04EC-445F-ACFA-AA057D7A0A92}" dt="2025-05-20T09:41:01.320" v="7" actId="47"/>
        <pc:sldMkLst>
          <pc:docMk/>
          <pc:sldMk cId="2507701182" sldId="256"/>
        </pc:sldMkLst>
        <pc:spChg chg="mod">
          <ac:chgData name="Fadi Yaqoub Saeed Alzaza" userId="63ac727b-d974-45f0-978f-fb4fb15258d9" providerId="ADAL" clId="{4481AAA8-04EC-445F-ACFA-AA057D7A0A92}" dt="2025-05-20T09:40:33.635" v="6"/>
          <ac:spMkLst>
            <pc:docMk/>
            <pc:sldMk cId="2507701182" sldId="256"/>
            <ac:spMk id="2" creationId="{DFF49B39-DF0B-E845-59E0-4230B1B179A8}"/>
          </ac:spMkLst>
        </pc:spChg>
        <pc:spChg chg="mod">
          <ac:chgData name="Fadi Yaqoub Saeed Alzaza" userId="63ac727b-d974-45f0-978f-fb4fb15258d9" providerId="ADAL" clId="{4481AAA8-04EC-445F-ACFA-AA057D7A0A92}" dt="2025-05-20T09:40:33.635" v="6"/>
          <ac:spMkLst>
            <pc:docMk/>
            <pc:sldMk cId="2507701182" sldId="256"/>
            <ac:spMk id="3" creationId="{FB797F66-6D25-F0B5-837E-82D72D2514DF}"/>
          </ac:spMkLst>
        </pc:spChg>
      </pc:sldChg>
      <pc:sldChg chg="modSp del">
        <pc:chgData name="Fadi Yaqoub Saeed Alzaza" userId="63ac727b-d974-45f0-978f-fb4fb15258d9" providerId="ADAL" clId="{4481AAA8-04EC-445F-ACFA-AA057D7A0A92}" dt="2025-05-20T08:43:16.457" v="1" actId="47"/>
        <pc:sldMkLst>
          <pc:docMk/>
          <pc:sldMk cId="2619132251" sldId="256"/>
        </pc:sldMkLst>
        <pc:spChg chg="mod">
          <ac:chgData name="Fadi Yaqoub Saeed Alzaza" userId="63ac727b-d974-45f0-978f-fb4fb15258d9" providerId="ADAL" clId="{4481AAA8-04EC-445F-ACFA-AA057D7A0A92}" dt="2025-05-20T08:10:16.196" v="0"/>
          <ac:spMkLst>
            <pc:docMk/>
            <pc:sldMk cId="2619132251" sldId="256"/>
            <ac:spMk id="2" creationId="{67133F6F-C632-D60B-F3B7-60A5705F5D48}"/>
          </ac:spMkLst>
        </pc:spChg>
        <pc:spChg chg="mod">
          <ac:chgData name="Fadi Yaqoub Saeed Alzaza" userId="63ac727b-d974-45f0-978f-fb4fb15258d9" providerId="ADAL" clId="{4481AAA8-04EC-445F-ACFA-AA057D7A0A92}" dt="2025-05-20T08:10:16.196" v="0"/>
          <ac:spMkLst>
            <pc:docMk/>
            <pc:sldMk cId="2619132251" sldId="256"/>
            <ac:spMk id="3" creationId="{3E5D9B8F-1185-8938-123B-50E93DF9530E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74423" y="802298"/>
            <a:ext cx="8637073" cy="2920713"/>
          </a:xfrm>
        </p:spPr>
        <p:txBody>
          <a:bodyPr bIns="0" anchor="b">
            <a:normAutofit/>
          </a:bodyPr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74424" y="3724074"/>
            <a:ext cx="8637072" cy="977621"/>
          </a:xfrm>
        </p:spPr>
        <p:txBody>
          <a:bodyPr tIns="91440" bIns="91440">
            <a:normAutofit/>
          </a:bodyPr>
          <a:lstStyle>
            <a:lvl1pPr marL="0" indent="0" algn="ctr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1579" y="329307"/>
            <a:ext cx="5626774" cy="309201"/>
          </a:xfrm>
        </p:spPr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76834" y="798973"/>
            <a:ext cx="811019" cy="503578"/>
          </a:xfrm>
        </p:spPr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652465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217353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4423" y="1756130"/>
            <a:ext cx="8643154" cy="1969007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4423" y="3725137"/>
            <a:ext cx="8643154" cy="1093987"/>
          </a:xfrm>
        </p:spPr>
        <p:txBody>
          <a:bodyPr tIns="91440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3106245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293577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488654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54140" y="2017343"/>
            <a:ext cx="4488654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2629891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295603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488794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488794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56025" y="2023003"/>
            <a:ext cx="4488794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56025" y="2821491"/>
            <a:ext cx="4488794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977361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8639994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794707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2961967" cy="2406518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3032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2961967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444203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blipFill dpi="0" rotWithShape="1">
              <a:blip r:embed="rId2">
                <a:alphaModFix amt="30000"/>
              </a:blip>
              <a:srcRect/>
              <a:tile tx="0" ty="0" sx="100000" sy="100000" flip="none" algn="ctr"/>
            </a:blip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 extrusionH="76200" contourW="12700" prstMaterial="matte">
              <a:bevelT w="152400" h="50800" prst="softRound"/>
              <a:extrusionClr>
                <a:schemeClr val="tx2"/>
              </a:extrusionClr>
              <a:contourClr>
                <a:schemeClr val="bg2"/>
              </a:contour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38100" cmpd="sng">
              <a:solidFill>
                <a:schemeClr val="tx2">
                  <a:lumMod val="25000"/>
                </a:schemeClr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2"/>
            <a:ext cx="5532328" cy="1922299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50000"/>
              <a:lumOff val="50000"/>
              <a:alpha val="80000"/>
            </a:schemeClr>
          </a:solidFill>
          <a:ln w="9525" cap="sq">
            <a:noFill/>
            <a:miter lim="800000"/>
          </a:ln>
          <a:effectLst/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 dirty="0"/>
            </a:lvl1pPr>
          </a:lstStyle>
          <a:p>
            <a:pPr lvl="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059600"/>
            <a:ext cx="5524404" cy="2090134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249598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965419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7052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518654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21824154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291215" cy="10492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29121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42079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62677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  <p:sp>
        <p:nvSpPr>
          <p:cNvPr id="9" name="Rectangle 8"/>
          <p:cNvSpPr/>
          <p:nvPr/>
        </p:nvSpPr>
        <p:spPr>
          <a:xfrm>
            <a:off x="0" y="3622291"/>
            <a:ext cx="12192000" cy="250598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>
                  <a:alpha val="80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6129338"/>
            <a:ext cx="12192000" cy="742950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>
            <a:off x="0" y="6138142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994469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HTML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Created: November 03,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HTML: Building Blocks of the Web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 b="1">
                <a:latin typeface="Arial"/>
              </a:defRPr>
            </a:pPr>
            <a:r>
              <a:t>What is HTML? HTML stands for HyperText Markup Language. Think of it as the skeleton of a webpage – it provides the structure and content. It's the language your browser (like Chrome or Firefox) uses to understand what to display.</a:t>
            </a:r>
          </a:p>
          <a:p>
            <a:pPr>
              <a:defRPr sz="1200" b="1">
                <a:latin typeface="Arial"/>
              </a:defRPr>
            </a:pPr>
            <a:r>
              <a:t>HTML uses Tags: These are special keywords surrounded by angle brackets, like `&lt;p&gt;` for paragraph or `&lt;h1&gt;` for a main heading. Most tags come in pairs: an opening tag (`&lt;p&gt;`) and a closing tag (`&lt;/p&gt;`). The closing tag has a forward slash.</a:t>
            </a:r>
          </a:p>
          <a:p>
            <a:pPr>
              <a:defRPr sz="1200" b="1">
                <a:latin typeface="Arial"/>
              </a:defRPr>
            </a:pPr>
            <a:r>
              <a:t>Basic HTML Structure: Every HTML document needs a basic structure:</a:t>
            </a:r>
          </a:p>
          <a:p>
            <a:pPr>
              <a:defRPr sz="1200" b="1">
                <a:latin typeface="Arial"/>
              </a:defRPr>
            </a:pPr>
            <a:r>
              <a:t>```html</a:t>
            </a:r>
          </a:p>
          <a:p>
            <a:pPr>
              <a:defRPr sz="1200" b="1">
                <a:latin typeface="Arial"/>
              </a:defRPr>
            </a:pPr>
            <a:r>
              <a:t>&lt;!DOCTYPE html&gt;</a:t>
            </a:r>
          </a:p>
          <a:p>
            <a:pPr>
              <a:defRPr sz="1200" b="1">
                <a:latin typeface="Arial"/>
              </a:defRPr>
            </a:pPr>
            <a:r>
              <a:t>&lt;html&gt;</a:t>
            </a:r>
          </a:p>
          <a:p>
            <a:pPr>
              <a:defRPr sz="1200" b="1">
                <a:latin typeface="Arial"/>
              </a:defRPr>
            </a:pPr>
            <a:r>
              <a:t>&lt;head&gt;</a:t>
            </a:r>
          </a:p>
          <a:p>
            <a:pPr>
              <a:defRPr sz="1200" b="1">
                <a:latin typeface="Arial"/>
              </a:defRPr>
            </a:pPr>
            <a:r>
              <a:t>&lt;title&gt;My First Webpage&lt;/title&gt;</a:t>
            </a:r>
          </a:p>
          <a:p>
            <a:pPr>
              <a:defRPr sz="1200" b="1">
                <a:latin typeface="Arial"/>
              </a:defRPr>
            </a:pPr>
            <a:r>
              <a:t>&lt;/head&gt;</a:t>
            </a:r>
          </a:p>
          <a:p>
            <a:pPr>
              <a:defRPr sz="1200" b="1">
                <a:latin typeface="Arial"/>
              </a:defRPr>
            </a:pPr>
            <a:r>
              <a:t>&lt;body&gt;</a:t>
            </a:r>
          </a:p>
          <a:p>
            <a:pPr>
              <a:defRPr sz="1200" b="1">
                <a:latin typeface="Arial"/>
              </a:defRPr>
            </a:pPr>
            <a:r>
              <a:t>&lt;h1&gt;Hello, World!&lt;/h1&gt;</a:t>
            </a:r>
          </a:p>
          <a:p>
            <a:pPr>
              <a:defRPr sz="1200" b="1">
                <a:latin typeface="Arial"/>
              </a:defRPr>
            </a:pPr>
            <a:r>
              <a:t>&lt;p&gt;This is a paragraph of text.&lt;/p&gt;</a:t>
            </a:r>
          </a:p>
          <a:p>
            <a:pPr>
              <a:defRPr sz="1200" b="1">
                <a:latin typeface="Arial"/>
              </a:defRPr>
            </a:pPr>
            <a:r>
              <a:t>&lt;/body&gt;</a:t>
            </a:r>
          </a:p>
          <a:p>
            <a:pPr>
              <a:defRPr sz="1200" b="1">
                <a:latin typeface="Arial"/>
              </a:defRPr>
            </a:pPr>
            <a:r>
              <a:t>&lt;/html&gt;</a:t>
            </a:r>
          </a:p>
          <a:p>
            <a:pPr>
              <a:defRPr sz="1200" b="1">
                <a:latin typeface="Arial"/>
              </a:defRPr>
            </a:pPr>
            <a:r>
              <a:t>```</a:t>
            </a:r>
          </a:p>
          <a:p>
            <a:pPr>
              <a:defRPr sz="1200" b="1">
                <a:latin typeface="Arial"/>
              </a:defRPr>
            </a:pPr>
            <a:r>
              <a:t>`&lt;!DOCTYPE html&gt;`:  Tells the browser this is an HTML5 document.</a:t>
            </a:r>
          </a:p>
          <a:p>
            <a:pPr>
              <a:defRPr sz="1200" b="1">
                <a:latin typeface="Arial"/>
              </a:defRPr>
            </a:pPr>
            <a:r>
              <a:t>`&lt;html&gt;`:  The root element of the page.</a:t>
            </a:r>
          </a:p>
          <a:p>
            <a:pPr>
              <a:defRPr sz="1200" b="1">
                <a:latin typeface="Arial"/>
              </a:defRPr>
            </a:pPr>
            <a:r>
              <a:t>`&lt;head&gt;`: Contains information about the page, like the title.</a:t>
            </a:r>
          </a:p>
          <a:p>
            <a:pPr>
              <a:defRPr sz="1200" b="1">
                <a:latin typeface="Arial"/>
              </a:defRPr>
            </a:pPr>
            <a:r>
              <a:t>`&lt;body&gt;`:  Contains the visible co...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Semantic HTML: Giving Meaning to Your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 b="1">
                <a:latin typeface="Arial"/>
              </a:defRPr>
            </a:pPr>
            <a:r>
              <a:t>What is Semantic HTML? It's about using HTML tags to describe the meaning of your content, not just how it looks.</a:t>
            </a:r>
          </a:p>
          <a:p>
            <a:pPr>
              <a:defRPr sz="1200" b="1">
                <a:latin typeface="Arial"/>
              </a:defRPr>
            </a:pPr>
            <a:r>
              <a:t>Why use Semantic HTML?</a:t>
            </a:r>
          </a:p>
          <a:p>
            <a:pPr>
              <a:defRPr sz="1200" b="1">
                <a:latin typeface="Arial"/>
              </a:defRPr>
            </a:pPr>
            <a:r>
              <a:t>Accessibility: Helps screen readers understand your content better, making your site usable for everyone.</a:t>
            </a:r>
          </a:p>
          <a:p>
            <a:pPr>
              <a:defRPr sz="1200" b="1">
                <a:latin typeface="Arial"/>
              </a:defRPr>
            </a:pPr>
            <a:r>
              <a:t>SEO (Search Engine Optimization): Search engines like Google can understand your content better, improving your search ranking.</a:t>
            </a:r>
          </a:p>
          <a:p>
            <a:pPr>
              <a:defRPr sz="1200" b="1">
                <a:latin typeface="Arial"/>
              </a:defRPr>
            </a:pPr>
            <a:r>
              <a:t>Maintainability: Makes your code easier to read and understand.</a:t>
            </a:r>
          </a:p>
          <a:p>
            <a:pPr>
              <a:defRPr sz="1200" b="1">
                <a:latin typeface="Arial"/>
              </a:defRPr>
            </a:pPr>
            <a:r>
              <a:t>Examples of Semantic Elements:</a:t>
            </a:r>
          </a:p>
          <a:p>
            <a:pPr>
              <a:defRPr sz="1200" b="1">
                <a:latin typeface="Arial"/>
              </a:defRPr>
            </a:pPr>
            <a:r>
              <a:t>`&lt;article&gt;`: Represents a self-contained composition in a document, page, application, or site (e.g., a blog post, a news article). Think of it as an independent piece of content that makes sense on its own.</a:t>
            </a:r>
          </a:p>
          <a:p>
            <a:pPr>
              <a:defRPr sz="1200" b="1">
                <a:latin typeface="Arial"/>
              </a:defRPr>
            </a:pPr>
            <a:r>
              <a:t>`&lt;nav&gt;`: Represents a section of a page that links to other pages or parts within the page. This is your main menu or navigation bar.</a:t>
            </a:r>
          </a:p>
          <a:p>
            <a:pPr>
              <a:defRPr sz="1200" b="1">
                <a:latin typeface="Arial"/>
              </a:defRPr>
            </a:pPr>
            <a:r>
              <a:t>`&lt;footer&gt;`:  Represents the footer for a document or section. Typically contains information about the author, copyright information, or related...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Lists and Links: Organizing and Connecting Your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 b="1">
                <a:latin typeface="Arial"/>
              </a:defRPr>
            </a:pPr>
            <a:r>
              <a:t>Unordered Lists (`&lt;ul&gt;`): For creating lists where the order doesn't matter (like a shopping list). Each item is marked with a bullet point.</a:t>
            </a:r>
          </a:p>
          <a:p>
            <a:pPr>
              <a:defRPr sz="1400" b="1">
                <a:latin typeface="Arial"/>
              </a:defRPr>
            </a:pPr>
            <a:r>
              <a:t>```html</a:t>
            </a:r>
          </a:p>
          <a:p>
            <a:pPr>
              <a:defRPr sz="1400" b="1">
                <a:latin typeface="Arial"/>
              </a:defRPr>
            </a:pPr>
            <a:r>
              <a:t>&lt;ul&gt;</a:t>
            </a:r>
          </a:p>
          <a:p>
            <a:pPr>
              <a:defRPr sz="1400" b="1">
                <a:latin typeface="Arial"/>
              </a:defRPr>
            </a:pPr>
            <a:r>
              <a:t>&lt;li&gt;Item 1&lt;/li&gt;</a:t>
            </a:r>
          </a:p>
          <a:p>
            <a:pPr>
              <a:defRPr sz="1400" b="1">
                <a:latin typeface="Arial"/>
              </a:defRPr>
            </a:pPr>
            <a:r>
              <a:t>&lt;li&gt;Item 2&lt;/li&gt;</a:t>
            </a:r>
          </a:p>
          <a:p>
            <a:pPr>
              <a:defRPr sz="1400" b="1">
                <a:latin typeface="Arial"/>
              </a:defRPr>
            </a:pPr>
            <a:r>
              <a:t>&lt;li&gt;Item 3&lt;/li&gt;</a:t>
            </a:r>
          </a:p>
          <a:p>
            <a:pPr>
              <a:defRPr sz="1400" b="1">
                <a:latin typeface="Arial"/>
              </a:defRPr>
            </a:pPr>
            <a:r>
              <a:t>&lt;/ul&gt;</a:t>
            </a:r>
          </a:p>
          <a:p>
            <a:pPr>
              <a:defRPr sz="1400" b="1">
                <a:latin typeface="Arial"/>
              </a:defRPr>
            </a:pPr>
            <a:r>
              <a:t>```</a:t>
            </a:r>
          </a:p>
          <a:p>
            <a:pPr>
              <a:defRPr sz="1400" b="1">
                <a:latin typeface="Arial"/>
              </a:defRPr>
            </a:pPr>
            <a:r>
              <a:t>Ordered Lists (`&lt;ol&gt;`): For creating lists where the order is important (like instructions). Each item is numbered.</a:t>
            </a:r>
          </a:p>
          <a:p>
            <a:pPr>
              <a:defRPr sz="1400" b="1">
                <a:latin typeface="Arial"/>
              </a:defRPr>
            </a:pPr>
            <a:r>
              <a:t>```html</a:t>
            </a:r>
          </a:p>
          <a:p>
            <a:pPr>
              <a:defRPr sz="1400" b="1">
                <a:latin typeface="Arial"/>
              </a:defRPr>
            </a:pPr>
            <a:r>
              <a:t>&lt;ol&gt;</a:t>
            </a:r>
          </a:p>
          <a:p>
            <a:pPr>
              <a:defRPr sz="1400" b="1">
                <a:latin typeface="Arial"/>
              </a:defRPr>
            </a:pPr>
            <a:r>
              <a:t>&lt;li&gt;First step&lt;/li&gt;</a:t>
            </a:r>
          </a:p>
          <a:p>
            <a:pPr>
              <a:defRPr sz="1400" b="1">
                <a:latin typeface="Arial"/>
              </a:defRPr>
            </a:pPr>
            <a:r>
              <a:t>&lt;li&gt;Second step&lt;/li&gt;</a:t>
            </a:r>
          </a:p>
          <a:p>
            <a:pPr>
              <a:defRPr sz="1400" b="1">
                <a:latin typeface="Arial"/>
              </a:defRPr>
            </a:pPr>
            <a:r>
              <a:t>&lt;li&gt;Third step&lt;/li&gt;</a:t>
            </a:r>
          </a:p>
          <a:p>
            <a:pPr>
              <a:defRPr sz="1400" b="1">
                <a:latin typeface="Arial"/>
              </a:defRPr>
            </a:pPr>
            <a:r>
              <a:t>&lt;/ol&gt;</a:t>
            </a:r>
          </a:p>
          <a:p>
            <a:pPr>
              <a:defRPr sz="1400" b="1">
                <a:latin typeface="Arial"/>
              </a:defRPr>
            </a:pPr>
            <a:r>
              <a:t>```</a:t>
            </a:r>
          </a:p>
          <a:p>
            <a:pPr>
              <a:defRPr sz="1400" b="1">
                <a:latin typeface="Arial"/>
              </a:defRPr>
            </a:pPr>
            <a:r>
              <a:t>Hyperlinks (`&lt;a&gt;`): Used to create links to other webpages or resources. The `href` attribute specifies the URL.</a:t>
            </a:r>
          </a:p>
          <a:p>
            <a:pPr>
              <a:defRPr sz="1400" b="1">
                <a:latin typeface="Arial"/>
              </a:defRPr>
            </a:pPr>
            <a:r>
              <a:t>```html</a:t>
            </a:r>
          </a:p>
          <a:p>
            <a:pPr>
              <a:defRPr sz="1400" b="1">
                <a:latin typeface="Arial"/>
              </a:defRPr>
            </a:pPr>
            <a:r>
              <a:t>&lt;a href="https://www.google.com"&gt;Visit Google&lt;/a&gt;</a:t>
            </a:r>
          </a:p>
          <a:p>
            <a:pPr>
              <a:defRPr sz="1400" b="1">
                <a:latin typeface="Arial"/>
              </a:defRPr>
            </a:pPr>
            <a:r>
              <a:t>```</a:t>
            </a:r>
          </a:p>
          <a:p>
            <a:pPr>
              <a:defRPr sz="1400" b="1">
                <a:latin typeface="Arial"/>
              </a:defRPr>
            </a:pPr>
            <a:r>
              <a:t>Analogy: Think of a hyperlink as a portal to another world (website).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Images and Forms: Adding Visuals and Interactivity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 b="1">
                <a:latin typeface="Arial"/>
              </a:defRPr>
            </a:pPr>
            <a:r>
              <a:t>Images (`&lt;img&gt;`): Used to display images on your webpage. The `src` attribute specifies the path to the image file.  The `alt` attribute provides alternative text for the image, important for accessibility (if the image can't load, the text will show).</a:t>
            </a:r>
          </a:p>
          <a:p>
            <a:pPr>
              <a:defRPr sz="1200" b="1">
                <a:latin typeface="Arial"/>
              </a:defRPr>
            </a:pPr>
            <a:r>
              <a:t>```html</a:t>
            </a:r>
          </a:p>
          <a:p>
            <a:pPr>
              <a:defRPr sz="1200" b="1">
                <a:latin typeface="Arial"/>
              </a:defRPr>
            </a:pPr>
            <a:r>
              <a:t>&lt;img src="myimage.jpg" alt="A beautiful sunset"&gt;</a:t>
            </a:r>
          </a:p>
          <a:p>
            <a:pPr>
              <a:defRPr sz="1200" b="1">
                <a:latin typeface="Arial"/>
              </a:defRPr>
            </a:pPr>
            <a:r>
              <a:t>```</a:t>
            </a:r>
          </a:p>
          <a:p>
            <a:pPr>
              <a:defRPr sz="1200" b="1">
                <a:latin typeface="Arial"/>
              </a:defRPr>
            </a:pPr>
            <a:r>
              <a:t>Forms (`&lt;form&gt;`): Used to collect information from users. Forms contain various input elements.</a:t>
            </a:r>
          </a:p>
          <a:p>
            <a:pPr>
              <a:defRPr sz="1200" b="1">
                <a:latin typeface="Arial"/>
              </a:defRPr>
            </a:pPr>
            <a:r>
              <a:t>Form Elements:</a:t>
            </a:r>
          </a:p>
          <a:p>
            <a:pPr>
              <a:defRPr sz="1200" b="1">
                <a:latin typeface="Arial"/>
              </a:defRPr>
            </a:pPr>
            <a:r>
              <a:t>`&lt;input type="text"&gt;`: A single-line text input field.</a:t>
            </a:r>
          </a:p>
          <a:p>
            <a:pPr>
              <a:defRPr sz="1200" b="1">
                <a:latin typeface="Arial"/>
              </a:defRPr>
            </a:pPr>
            <a:r>
              <a:t>`&lt;input type="email"&gt;`:  A single-line email input field.  Browsers often validate the email format.</a:t>
            </a:r>
          </a:p>
          <a:p>
            <a:pPr>
              <a:defRPr sz="1200" b="1">
                <a:latin typeface="Arial"/>
              </a:defRPr>
            </a:pPr>
            <a:r>
              <a:t>`&lt;textarea&gt;`: A multi-line text input field.</a:t>
            </a:r>
          </a:p>
          <a:p>
            <a:pPr>
              <a:defRPr sz="1200" b="1">
                <a:latin typeface="Arial"/>
              </a:defRPr>
            </a:pPr>
            <a:r>
              <a:t>`&lt;button type="submit"&gt;`:  A button that submits the form data.</a:t>
            </a:r>
          </a:p>
          <a:p>
            <a:pPr>
              <a:defRPr sz="1200" b="1">
                <a:latin typeface="Arial"/>
              </a:defRPr>
            </a:pPr>
            <a:r>
              <a:t>`&lt;label&gt;`: Associates a text label with an input element, improving accessibility.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Putting it all Together: A Simple Webpage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 b="1">
                <a:latin typeface="Arial"/>
              </a:defRPr>
            </a:pPr>
            <a:r>
              <a:t>Example HTML code:</a:t>
            </a:r>
          </a:p>
          <a:p>
            <a:pPr>
              <a:defRPr sz="1200" b="1">
                <a:latin typeface="Arial"/>
              </a:defRPr>
            </a:pPr>
            <a:r>
              <a:t>```html</a:t>
            </a:r>
          </a:p>
          <a:p>
            <a:pPr>
              <a:defRPr sz="1200" b="1">
                <a:latin typeface="Arial"/>
              </a:defRPr>
            </a:pPr>
            <a:r>
              <a:t>&lt;!DOCTYPE html&gt;</a:t>
            </a:r>
          </a:p>
          <a:p>
            <a:pPr>
              <a:defRPr sz="1200" b="1">
                <a:latin typeface="Arial"/>
              </a:defRPr>
            </a:pPr>
            <a:r>
              <a:t>&lt;html&gt;</a:t>
            </a:r>
          </a:p>
          <a:p>
            <a:pPr>
              <a:defRPr sz="1200" b="1">
                <a:latin typeface="Arial"/>
              </a:defRPr>
            </a:pPr>
            <a:r>
              <a:t>&lt;head&gt;</a:t>
            </a:r>
          </a:p>
          <a:p>
            <a:pPr>
              <a:defRPr sz="1200" b="1">
                <a:latin typeface="Arial"/>
              </a:defRPr>
            </a:pPr>
            <a:r>
              <a:t>&lt;title&gt;My Simple Webpage&lt;/title&gt;</a:t>
            </a:r>
          </a:p>
          <a:p>
            <a:pPr>
              <a:defRPr sz="1200" b="1">
                <a:latin typeface="Arial"/>
              </a:defRPr>
            </a:pPr>
            <a:r>
              <a:t>&lt;/head&gt;</a:t>
            </a:r>
          </a:p>
          <a:p>
            <a:pPr>
              <a:defRPr sz="1200" b="1">
                <a:latin typeface="Arial"/>
              </a:defRPr>
            </a:pPr>
            <a:r>
              <a:t>&lt;body&gt;</a:t>
            </a:r>
          </a:p>
          <a:p>
            <a:pPr>
              <a:defRPr sz="1200" b="1">
                <a:latin typeface="Arial"/>
              </a:defRPr>
            </a:pPr>
            <a:r>
              <a:t>&lt;header&gt;</a:t>
            </a:r>
          </a:p>
          <a:p>
            <a:pPr>
              <a:defRPr sz="1200" b="1">
                <a:latin typeface="Arial"/>
              </a:defRPr>
            </a:pPr>
            <a:r>
              <a:t>&lt;h1&gt;Welcome to My Page!&lt;/h1&gt;</a:t>
            </a:r>
          </a:p>
          <a:p>
            <a:pPr>
              <a:defRPr sz="1200" b="1">
                <a:latin typeface="Arial"/>
              </a:defRPr>
            </a:pPr>
            <a:r>
              <a:t>&lt;nav&gt;</a:t>
            </a:r>
          </a:p>
          <a:p>
            <a:pPr>
              <a:defRPr sz="1200" b="1">
                <a:latin typeface="Arial"/>
              </a:defRPr>
            </a:pPr>
            <a:r>
              <a:t>&lt;ul&gt;</a:t>
            </a:r>
          </a:p>
          <a:p>
            <a:pPr>
              <a:defRPr sz="1200" b="1">
                <a:latin typeface="Arial"/>
              </a:defRPr>
            </a:pPr>
            <a:r>
              <a:t>&lt;li&gt;&lt;a href="#"&gt;Home&lt;/a&gt;&lt;/li&gt;</a:t>
            </a:r>
          </a:p>
          <a:p>
            <a:pPr>
              <a:defRPr sz="1200" b="1">
                <a:latin typeface="Arial"/>
              </a:defRPr>
            </a:pPr>
            <a:r>
              <a:t>&lt;li&gt;&lt;a href="#"&gt;About&lt;/a&gt;&lt;/li&gt;</a:t>
            </a:r>
          </a:p>
          <a:p>
            <a:pPr>
              <a:defRPr sz="1200" b="1">
                <a:latin typeface="Arial"/>
              </a:defRPr>
            </a:pPr>
            <a:r>
              <a:t>&lt;li&gt;&lt;a href="#"&gt;Contact&lt;/a&gt;&lt;/li&gt;</a:t>
            </a:r>
          </a:p>
          <a:p>
            <a:pPr>
              <a:defRPr sz="1200" b="1">
                <a:latin typeface="Arial"/>
              </a:defRPr>
            </a:pPr>
            <a:r>
              <a:t>&lt;/ul&gt;</a:t>
            </a:r>
          </a:p>
          <a:p>
            <a:pPr>
              <a:defRPr sz="1200" b="1">
                <a:latin typeface="Arial"/>
              </a:defRPr>
            </a:pPr>
            <a:r>
              <a:t>&lt;/nav&gt;</a:t>
            </a:r>
          </a:p>
          <a:p>
            <a:pPr>
              <a:defRPr sz="1200" b="1">
                <a:latin typeface="Arial"/>
              </a:defRPr>
            </a:pPr>
            <a:r>
              <a:t>&lt;/header&gt;</a:t>
            </a:r>
          </a:p>
          <a:p>
            <a:pPr>
              <a:defRPr sz="1200" b="1">
                <a:latin typeface="Arial"/>
              </a:defRPr>
            </a:pPr>
            <a:r>
              <a:t>&lt;article&gt;</a:t>
            </a:r>
          </a:p>
          <a:p>
            <a:pPr>
              <a:defRPr sz="1200" b="1">
                <a:latin typeface="Arial"/>
              </a:defRPr>
            </a:pPr>
            <a:r>
              <a:t>&lt;h2&gt;My First Blog Post&lt;/h2&gt;</a:t>
            </a:r>
          </a:p>
          <a:p>
            <a:pPr>
              <a:defRPr sz="1200" b="1">
                <a:latin typeface="Arial"/>
              </a:defRPr>
            </a:pPr>
            <a:r>
              <a:t>&lt;p&gt;This is my first blog post using HTML!&lt;/p&gt;</a:t>
            </a:r>
          </a:p>
          <a:p>
            <a:pPr>
              <a:defRPr sz="1200" b="1">
                <a:latin typeface="Arial"/>
              </a:defRPr>
            </a:pPr>
            <a:r>
              <a:t>&lt;img src="placeholder.jpg" alt="Placeholder Image"&gt;</a:t>
            </a:r>
          </a:p>
          <a:p>
            <a:pPr>
              <a:defRPr sz="1200" b="1">
                <a:latin typeface="Arial"/>
              </a:defRPr>
            </a:pPr>
            <a:r>
              <a:t>&lt;/article&gt;</a:t>
            </a:r>
          </a:p>
          <a:p>
            <a:pPr>
              <a:defRPr sz="1200" b="1">
                <a:latin typeface="Arial"/>
              </a:defRPr>
            </a:pPr>
            <a:r>
              <a:t>&lt;form&gt;</a:t>
            </a:r>
          </a:p>
          <a:p>
            <a:pPr>
              <a:defRPr sz="1200" b="1">
                <a:latin typeface="Arial"/>
              </a:defRPr>
            </a:pPr>
            <a:r>
              <a:t>&lt;label for="name"&gt;Name:&lt;/label&gt;&lt;br&gt;</a:t>
            </a:r>
          </a:p>
          <a:p>
            <a:pPr>
              <a:defRPr sz="1200" b="1">
                <a:latin typeface="Arial"/>
              </a:defRPr>
            </a:pPr>
            <a:r>
              <a:t>&lt;input type="text" id="name" name="name"&gt;&lt;br&gt;&lt;br&gt;</a:t>
            </a:r>
          </a:p>
          <a:p>
            <a:pPr>
              <a:defRPr sz="1200" b="1">
                <a:latin typeface="Arial"/>
              </a:defRPr>
            </a:pPr>
            <a:r>
              <a:t>&lt;label for="email"&gt;Email:&lt;/label&gt;&lt;br&gt;</a:t>
            </a:r>
          </a:p>
          <a:p>
            <a:pPr>
              <a:defRPr sz="1200" b="1">
                <a:latin typeface="Arial"/>
              </a:defRPr>
            </a:pPr>
            <a:r>
              <a:t>&lt;input type="email" id="email" name="email"&gt;&lt;br&gt;&lt;br&gt;</a:t>
            </a:r>
          </a:p>
          <a:p>
            <a:pPr>
              <a:defRPr sz="1200" b="1">
                <a:latin typeface="Arial"/>
              </a:defRPr>
            </a:pPr>
            <a:r>
              <a:t>&lt;button type="submit"&gt;Submit&lt;/button&gt;</a:t>
            </a:r>
          </a:p>
          <a:p>
            <a:pPr>
              <a:defRPr sz="1200" b="1">
                <a:latin typeface="Arial"/>
              </a:defRPr>
            </a:pPr>
            <a:r>
              <a:t>&lt;/form&gt;</a:t>
            </a:r>
          </a:p>
          <a:p>
            <a:pPr>
              <a:defRPr sz="1200" b="1">
                <a:latin typeface="Arial"/>
              </a:defRPr>
            </a:pPr>
            <a:r>
              <a:t>&lt;footer&gt;</a:t>
            </a:r>
          </a:p>
          <a:p>
            <a:pPr>
              <a:defRPr sz="1200" b="1">
                <a:latin typeface="Arial"/>
              </a:defRPr>
            </a:pPr>
            <a:r>
              <a:t>&lt;p&gt;&amp;copy; 2023 M...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VDATA" val="ew0KICAiZG9jSUQiOiAiODE4NDE5YmYtNWYwYi00ZmJmLWFjM2UtYjBkYjg5MTk5YjM3Ig0KfQ=="/>
  <p:tag name="GVDATA0" val="(end)"/>
</p:tagLst>
</file>

<file path=ppt/theme/theme1.xml><?xml version="1.0" encoding="utf-8"?>
<a:theme xmlns:a="http://schemas.openxmlformats.org/drawingml/2006/main" name="Gallery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Gallery">
      <a:majorFont>
        <a:latin typeface="Rockwell" panose="020606030202050204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BB5F5D82-B5E9-469E-A815-C655ED4AF24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Arial</vt:lpstr>
      <vt:lpstr>Rockwell</vt:lpstr>
      <vt:lpstr>Gallery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Fadi Yaqoub Saeed Alzaza</dc:creator>
  <cp:lastModifiedBy>Fadi Yaqoub Saeed Alzaza</cp:lastModifiedBy>
  <cp:revision>2</cp:revision>
  <dcterms:created xsi:type="dcterms:W3CDTF">2025-05-20T08:08:47Z</dcterms:created>
  <dcterms:modified xsi:type="dcterms:W3CDTF">2025-05-20T09:41:04Z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GVData">
    <vt:lpwstr>ew0KICAiZG9jSUQiOiAiODE4NDE5YmYtNWYwYi00ZmJmLWFjM2UtYjBkYjg5MTk5YjM3Ig0KfQ==</vt:lpwstr>
  </property>
  <property fmtid="{D5CDD505-2E9C-101B-9397-08002B2CF9AE}" pid="3" name="GVData0">
    <vt:lpwstr>(end)</vt:lpwstr>
  </property>
</Properties>
</file>