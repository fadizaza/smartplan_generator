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9"/>
    <p:sldId id="257" r:id="rId10"/>
    <p:sldId id="258" r:id="rId12"/>
    <p:sldId id="259" r:id="rId13"/>
    <p:sldId id="260" r:id="rId14"/>
    <p:sldId id="261" r:id="rId15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4FEF7A-953F-4974-9507-5F3B8EF8BBC8}" v="1" dt="2025-05-20T08:12:41.768"/>
    <p1510:client id="{FDE584DB-E2AB-4B1C-85B9-075E19F69774}" v="2" dt="2025-05-20T09:35:38.3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87" d="100"/>
          <a:sy n="87" d="100"/>
        </p:scale>
        <p:origin x="6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2" Type="http://schemas.openxmlformats.org/officeDocument/2006/relationships/tags" Target="tags/tag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FDE584DB-E2AB-4B1C-85B9-075E19F69774}"/>
    <pc:docChg chg="addSld delSld modSld">
      <pc:chgData name="Fadi Yaqoub Saeed Alzaza" userId="63ac727b-d974-45f0-978f-fb4fb15258d9" providerId="ADAL" clId="{FDE584DB-E2AB-4B1C-85B9-075E19F69774}" dt="2025-05-20T09:35:43.879" v="6" actId="47"/>
      <pc:docMkLst>
        <pc:docMk/>
      </pc:docMkLst>
      <pc:sldChg chg="modSp new del">
        <pc:chgData name="Fadi Yaqoub Saeed Alzaza" userId="63ac727b-d974-45f0-978f-fb4fb15258d9" providerId="ADAL" clId="{FDE584DB-E2AB-4B1C-85B9-075E19F69774}" dt="2025-05-20T09:35:41.599" v="4" actId="47"/>
        <pc:sldMkLst>
          <pc:docMk/>
          <pc:sldMk cId="880051167" sldId="256"/>
        </pc:sldMkLst>
        <pc:spChg chg="mod">
          <ac:chgData name="Fadi Yaqoub Saeed Alzaza" userId="63ac727b-d974-45f0-978f-fb4fb15258d9" providerId="ADAL" clId="{FDE584DB-E2AB-4B1C-85B9-075E19F69774}" dt="2025-05-20T09:35:38.397" v="3"/>
          <ac:spMkLst>
            <pc:docMk/>
            <pc:sldMk cId="880051167" sldId="256"/>
            <ac:spMk id="2" creationId="{154AAC03-4054-8E29-81AE-81C30A0AEE49}"/>
          </ac:spMkLst>
        </pc:spChg>
        <pc:spChg chg="mod">
          <ac:chgData name="Fadi Yaqoub Saeed Alzaza" userId="63ac727b-d974-45f0-978f-fb4fb15258d9" providerId="ADAL" clId="{FDE584DB-E2AB-4B1C-85B9-075E19F69774}" dt="2025-05-20T09:35:38.397" v="3"/>
          <ac:spMkLst>
            <pc:docMk/>
            <pc:sldMk cId="880051167" sldId="256"/>
            <ac:spMk id="3" creationId="{3E6B3C5F-36B9-1FD2-BD8F-9C9A89A4B923}"/>
          </ac:spMkLst>
        </pc:spChg>
      </pc:sldChg>
      <pc:sldChg chg="del">
        <pc:chgData name="Fadi Yaqoub Saeed Alzaza" userId="63ac727b-d974-45f0-978f-fb4fb15258d9" providerId="ADAL" clId="{FDE584DB-E2AB-4B1C-85B9-075E19F69774}" dt="2025-05-20T08:44:08.800" v="0" actId="47"/>
        <pc:sldMkLst>
          <pc:docMk/>
          <pc:sldMk cId="2619132251" sldId="256"/>
        </pc:sldMkLst>
      </pc:sldChg>
      <pc:sldChg chg="new del">
        <pc:chgData name="Fadi Yaqoub Saeed Alzaza" userId="63ac727b-d974-45f0-978f-fb4fb15258d9" providerId="ADAL" clId="{FDE584DB-E2AB-4B1C-85B9-075E19F69774}" dt="2025-05-20T09:35:43.879" v="6" actId="47"/>
        <pc:sldMkLst>
          <pc:docMk/>
          <pc:sldMk cId="3293620803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3490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224800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670268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1501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118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34267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4593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72998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357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7021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4468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53939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8726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37734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09289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22770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4338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October 24,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 b="1">
                <a:latin typeface="Arial"/>
              </a:defRPr>
            </a:pPr>
            <a:r>
              <a:t>Imagine a robot that can see, think, and act on its own. That's similar to an AI agent!</a:t>
            </a:r>
          </a:p>
          <a:p>
            <a:pPr>
              <a:defRPr sz="1200" b="1">
                <a:latin typeface="Arial"/>
              </a:defRPr>
            </a:pPr>
            <a:r>
              <a:t>Definition: An AI agent is a computer program or system that can perceive its environment, make decisions, and take actions to achieve a specific goal.</a:t>
            </a:r>
          </a:p>
          <a:p>
            <a:pPr>
              <a:defRPr sz="1200" b="1">
                <a:latin typeface="Arial"/>
              </a:defRPr>
            </a:pPr>
            <a:r>
              <a:t>Key Components:</a:t>
            </a:r>
          </a:p>
          <a:p>
            <a:pPr>
              <a:defRPr sz="1200" b="1">
                <a:latin typeface="Arial"/>
              </a:defRPr>
            </a:pPr>
            <a:r>
              <a:t>Percepts: What the agent "sees" or senses from the environment (like using sensors). Think of it like your eyes and ears.</a:t>
            </a:r>
          </a:p>
          <a:p>
            <a:pPr>
              <a:defRPr sz="1200" b="1">
                <a:latin typeface="Arial"/>
              </a:defRPr>
            </a:pPr>
            <a:r>
              <a:t>Environment: The world the agent lives in and interacts with.</a:t>
            </a:r>
          </a:p>
          <a:p>
            <a:pPr>
              <a:defRPr sz="1200" b="1">
                <a:latin typeface="Arial"/>
              </a:defRPr>
            </a:pPr>
            <a:r>
              <a:t>Actions: What the agent can do to the environment (like moving or speaking).</a:t>
            </a:r>
          </a:p>
          <a:p>
            <a:pPr>
              <a:defRPr sz="1200" b="1">
                <a:latin typeface="Arial"/>
              </a:defRPr>
            </a:pPr>
            <a:r>
              <a:t>Goal: What the agent is trying to achieve (like cleaning a room or winning a game).</a:t>
            </a:r>
          </a:p>
          <a:p>
            <a:pPr>
              <a:defRPr sz="1200" b="1">
                <a:latin typeface="Arial"/>
              </a:defRPr>
            </a:pPr>
            <a:r>
              <a:t>Think of a self-driving car: it perceives the road and other cars, its environment is the road, its actions are steering and accelerating, and its goal is to reach a destination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AI agents come in different flavors, depending on how they make decisions:</a:t>
            </a:r>
          </a:p>
          <a:p>
            <a:pPr>
              <a:defRPr sz="1400" b="1">
                <a:latin typeface="Arial"/>
              </a:defRPr>
            </a:pPr>
            <a:r>
              <a:t>Simple Reflex Agents: Act based only on the current situation. Like a thermostat that turns on the heat when it's cold. (If X then Y)</a:t>
            </a:r>
          </a:p>
          <a:p>
            <a:pPr>
              <a:defRPr sz="1400" b="1">
                <a:latin typeface="Arial"/>
              </a:defRPr>
            </a:pPr>
            <a:r>
              <a:t>Model-Based Reflex Agents: Use a "model" of the world to make decisions. They remember the past and consider how their actions might change the world. Think of a robot vacuum cleaner avoiding areas it already cleaned.</a:t>
            </a:r>
          </a:p>
          <a:p>
            <a:pPr>
              <a:defRPr sz="1400" b="1">
                <a:latin typeface="Arial"/>
              </a:defRPr>
            </a:pPr>
            <a:r>
              <a:t>Goal-Based Agents: Have a specific goal and try to achieve it. They might use search algorithms to find the best path to their goal. Example: A GPS navigation system trying to find the fastest route.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a Simple AI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Let's design an AI agent for a vending machine!</a:t>
            </a:r>
          </a:p>
          <a:p>
            <a:pPr>
              <a:defRPr sz="1800" b="1">
                <a:latin typeface="Arial"/>
              </a:defRPr>
            </a:pPr>
            <a:r>
              <a:t>Task: Dispense a snack when the correct amount of money is inserted.</a:t>
            </a:r>
          </a:p>
          <a:p>
            <a:pPr>
              <a:defRPr sz="1800" b="1">
                <a:latin typeface="Arial"/>
              </a:defRPr>
            </a:pPr>
            <a:r>
              <a:t>Percepts: Amount of money inserted, button pressed.</a:t>
            </a:r>
          </a:p>
          <a:p>
            <a:pPr>
              <a:defRPr sz="1800" b="1">
                <a:latin typeface="Arial"/>
              </a:defRPr>
            </a:pPr>
            <a:r>
              <a:t>Actions: Dispense snack, return change.</a:t>
            </a:r>
          </a:p>
          <a:p>
            <a:pPr>
              <a:defRPr sz="1800" b="1">
                <a:latin typeface="Arial"/>
              </a:defRPr>
            </a:pPr>
            <a:r>
              <a:t>Decision-Making:</a:t>
            </a:r>
          </a:p>
          <a:p>
            <a:pPr>
              <a:defRPr sz="1800" b="1">
                <a:latin typeface="Arial"/>
              </a:defRPr>
            </a:pPr>
            <a:r>
              <a:t>If (money inserted &gt;= snack price) AND (button pressed == snack code) Then</a:t>
            </a:r>
          </a:p>
          <a:p>
            <a:pPr>
              <a:defRPr sz="1800" b="1">
                <a:latin typeface="Arial"/>
              </a:defRPr>
            </a:pPr>
            <a:r>
              <a:t>Dispense snack</a:t>
            </a:r>
          </a:p>
          <a:p>
            <a:pPr>
              <a:defRPr sz="1800" b="1">
                <a:latin typeface="Arial"/>
              </a:defRPr>
            </a:pPr>
            <a:r>
              <a:t>Return change (if any)</a:t>
            </a:r>
          </a:p>
          <a:p>
            <a:pPr>
              <a:defRPr sz="1800" b="1">
                <a:latin typeface="Arial"/>
              </a:defRPr>
            </a:pPr>
            <a:r>
              <a:t>Else</a:t>
            </a:r>
          </a:p>
          <a:p>
            <a:pPr>
              <a:defRPr sz="1800" b="1">
                <a:latin typeface="Arial"/>
              </a:defRPr>
            </a:pPr>
            <a:r>
              <a:t>Display "Insufficient Funds" or "Invalid Selection"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Architectures: Strengths and Weaknesses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Different ways to build AI agents have their pros and cons:</a:t>
            </a:r>
          </a:p>
          <a:p>
            <a:pPr>
              <a:defRPr sz="1400" b="1">
                <a:latin typeface="Arial"/>
              </a:defRPr>
            </a:pPr>
            <a:r>
              <a:t>Simple Reflex Agents:</a:t>
            </a:r>
          </a:p>
          <a:p>
            <a:pPr>
              <a:defRPr sz="1400" b="1">
                <a:latin typeface="Arial"/>
              </a:defRPr>
            </a:pPr>
            <a:r>
              <a:t>Strengths: Easy to implement, fast.</a:t>
            </a:r>
          </a:p>
          <a:p>
            <a:pPr>
              <a:defRPr sz="1400" b="1">
                <a:latin typeface="Arial"/>
              </a:defRPr>
            </a:pPr>
            <a:r>
              <a:t>Weaknesses: Can't handle complex situations, no memory.</a:t>
            </a:r>
          </a:p>
          <a:p>
            <a:pPr>
              <a:defRPr sz="1400" b="1">
                <a:latin typeface="Arial"/>
              </a:defRPr>
            </a:pPr>
            <a:r>
              <a:t>Model-Based Reflex Agents:</a:t>
            </a:r>
          </a:p>
          <a:p>
            <a:pPr>
              <a:defRPr sz="1400" b="1">
                <a:latin typeface="Arial"/>
              </a:defRPr>
            </a:pPr>
            <a:r>
              <a:t>Strengths: Can handle more complex situations, use past knowledge.</a:t>
            </a:r>
          </a:p>
          <a:p>
            <a:pPr>
              <a:defRPr sz="1400" b="1">
                <a:latin typeface="Arial"/>
              </a:defRPr>
            </a:pPr>
            <a:r>
              <a:t>Weaknesses: More complex to implement, rely on the accuracy of the model.</a:t>
            </a:r>
          </a:p>
          <a:p>
            <a:pPr>
              <a:defRPr sz="1400" b="1">
                <a:latin typeface="Arial"/>
              </a:defRPr>
            </a:pPr>
            <a:r>
              <a:t>Example: A simple reflex agent controlling a robot arm in a factory might be very fast, but will fail if something unexpected happens. A model-based agent in the same factory is slower, but might be able to adapt to changes in the environment if its internal model is accurate.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>
                <a:latin typeface="Arial"/>
              </a:defRPr>
            </a:pPr>
            <a:r>
              <a:t>AI agents are everywhere!</a:t>
            </a:r>
          </a:p>
          <a:p>
            <a:pPr>
              <a:defRPr sz="1400" b="1">
                <a:latin typeface="Arial"/>
              </a:defRPr>
            </a:pPr>
            <a:r>
              <a:t>Spam Filters: Classify emails as spam or not spam.</a:t>
            </a:r>
          </a:p>
          <a:p>
            <a:pPr>
              <a:defRPr sz="1400" b="1">
                <a:latin typeface="Arial"/>
              </a:defRPr>
            </a:pPr>
            <a:r>
              <a:t>Recommendation Systems: Suggest movies or products you might like.</a:t>
            </a:r>
          </a:p>
          <a:p>
            <a:pPr>
              <a:defRPr sz="1400" b="1">
                <a:latin typeface="Arial"/>
              </a:defRPr>
            </a:pPr>
            <a:r>
              <a:t>Chatbots: Answer your questions online.</a:t>
            </a:r>
          </a:p>
          <a:p>
            <a:pPr>
              <a:defRPr sz="1400" b="1">
                <a:latin typeface="Arial"/>
              </a:defRPr>
            </a:pPr>
            <a:r>
              <a:t>Ethical Considerations:</a:t>
            </a:r>
          </a:p>
          <a:p>
            <a:pPr>
              <a:defRPr sz="1400" b="1">
                <a:latin typeface="Arial"/>
              </a:defRPr>
            </a:pPr>
            <a:r>
              <a:t>Bias: AI agents can learn biases from the data they are trained on.</a:t>
            </a:r>
          </a:p>
          <a:p>
            <a:pPr>
              <a:defRPr sz="1400" b="1">
                <a:latin typeface="Arial"/>
              </a:defRPr>
            </a:pPr>
            <a:r>
              <a:t>Privacy: AI agents can collect and use your personal data.</a:t>
            </a:r>
          </a:p>
          <a:p>
            <a:pPr>
              <a:defRPr sz="1400" b="1">
                <a:latin typeface="Arial"/>
              </a:defRPr>
            </a:pPr>
            <a:r>
              <a:t>Responsibility: Who is responsible when an AI agent makes a mistake?</a:t>
            </a:r>
          </a:p>
          <a:p>
            <a:pPr>
              <a:defRPr sz="1400" b="1">
                <a:latin typeface="Arial"/>
              </a:defRPr>
            </a:pPr>
            <a:r>
              <a:t>As AI becomes more powerful, it's important to think about these ethical issues!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Century Gothic</vt:lpstr>
      <vt:lpstr>Wingdings 3</vt:lpstr>
      <vt:lpstr>Wisp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9</cp:revision>
  <dcterms:created xsi:type="dcterms:W3CDTF">2025-05-20T08:08:47Z</dcterms:created>
  <dcterms:modified xsi:type="dcterms:W3CDTF">2025-05-20T09:35:44Z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