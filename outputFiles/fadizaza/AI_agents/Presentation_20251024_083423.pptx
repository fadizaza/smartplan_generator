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5" r:id="rId1"/>
  </p:sldMasterIdLst>
  <p:sldIdLst>
    <p:sldId id="256" r:id="rId9"/>
    <p:sldId id="257" r:id="rId10"/>
    <p:sldId id="258" r:id="rId12"/>
    <p:sldId id="259" r:id="rId13"/>
    <p:sldId id="260" r:id="rId14"/>
    <p:sldId id="261" r:id="rId15"/>
  </p:sldIdLst>
  <p:sldSz cx="12192000" cy="6858000"/>
  <p:notesSz cx="6858000" cy="9144000"/>
  <p:custDataLst>
    <p:tags r:id="rId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CB9BE8-9E74-4C7B-AD7F-028B1AB48233}" v="1" dt="2025-05-20T09:41:54.9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0"/>
  </p:normalViewPr>
  <p:slideViewPr>
    <p:cSldViewPr snapToGrid="0">
      <p:cViewPr varScale="1">
        <p:scale>
          <a:sx n="92" d="100"/>
          <a:sy n="92" d="100"/>
        </p:scale>
        <p:origin x="77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2.xml"/><Relationship Id="rId11" Type="http://schemas.openxmlformats.org/officeDocument/2006/relationships/notesMaster" Target="notesMasters/notesMaster1.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2" Type="http://schemas.openxmlformats.org/officeDocument/2006/relationships/tags" Target="tags/tag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microsoft.com/office/2016/11/relationships/changesInfo" Target="changesInfos/changesInfo1.xml"/><Relationship Id="rId8" Type="http://schemas.microsoft.com/office/2015/10/relationships/revisionInfo" Target="revisionInfo.xml"/><Relationship Id="rId9"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di Yaqoub Saeed Alzaza" userId="63ac727b-d974-45f0-978f-fb4fb15258d9" providerId="ADAL" clId="{2DCB9BE8-9E74-4C7B-AD7F-028B1AB48233}"/>
    <pc:docChg chg="addSld delSld modSld">
      <pc:chgData name="Fadi Yaqoub Saeed Alzaza" userId="63ac727b-d974-45f0-978f-fb4fb15258d9" providerId="ADAL" clId="{2DCB9BE8-9E74-4C7B-AD7F-028B1AB48233}" dt="2025-05-20T09:41:57.592" v="5" actId="47"/>
      <pc:docMkLst>
        <pc:docMk/>
      </pc:docMkLst>
      <pc:sldChg chg="modSp new del">
        <pc:chgData name="Fadi Yaqoub Saeed Alzaza" userId="63ac727b-d974-45f0-978f-fb4fb15258d9" providerId="ADAL" clId="{2DCB9BE8-9E74-4C7B-AD7F-028B1AB48233}" dt="2025-05-20T09:41:57.592" v="5" actId="47"/>
        <pc:sldMkLst>
          <pc:docMk/>
          <pc:sldMk cId="718073870" sldId="256"/>
        </pc:sldMkLst>
        <pc:spChg chg="mod">
          <ac:chgData name="Fadi Yaqoub Saeed Alzaza" userId="63ac727b-d974-45f0-978f-fb4fb15258d9" providerId="ADAL" clId="{2DCB9BE8-9E74-4C7B-AD7F-028B1AB48233}" dt="2025-05-20T09:41:54.972" v="4"/>
          <ac:spMkLst>
            <pc:docMk/>
            <pc:sldMk cId="718073870" sldId="256"/>
            <ac:spMk id="2" creationId="{DDF87BE1-A523-CFCA-4038-5938D5608F0A}"/>
          </ac:spMkLst>
        </pc:spChg>
        <pc:spChg chg="mod">
          <ac:chgData name="Fadi Yaqoub Saeed Alzaza" userId="63ac727b-d974-45f0-978f-fb4fb15258d9" providerId="ADAL" clId="{2DCB9BE8-9E74-4C7B-AD7F-028B1AB48233}" dt="2025-05-20T09:41:54.972" v="4"/>
          <ac:spMkLst>
            <pc:docMk/>
            <pc:sldMk cId="718073870" sldId="256"/>
            <ac:spMk id="3" creationId="{2F6E52BF-0094-1787-FAE4-12C2E37CBD8C}"/>
          </ac:spMkLst>
        </pc:spChg>
      </pc:sldChg>
      <pc:sldChg chg="del">
        <pc:chgData name="Fadi Yaqoub Saeed Alzaza" userId="63ac727b-d974-45f0-978f-fb4fb15258d9" providerId="ADAL" clId="{2DCB9BE8-9E74-4C7B-AD7F-028B1AB48233}" dt="2025-05-20T08:40:27.157" v="2" actId="47"/>
        <pc:sldMkLst>
          <pc:docMk/>
          <pc:sldMk cId="2619132251" sldId="256"/>
        </pc:sldMkLst>
      </pc:sldChg>
      <pc:sldChg chg="new del">
        <pc:chgData name="Fadi Yaqoub Saeed Alzaza" userId="63ac727b-d974-45f0-978f-fb4fb15258d9" providerId="ADAL" clId="{2DCB9BE8-9E74-4C7B-AD7F-028B1AB48233}" dt="2025-05-20T08:40:22.892" v="1" actId="47"/>
        <pc:sldMkLst>
          <pc:docMk/>
          <pc:sldMk cId="809125730" sldId="25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89E76585-B410-4487-962C-D6571C327AC4}" type="datetimeFigureOut">
              <a:rPr lang="en-AE" smtClean="0"/>
              <a:t>20/05/2025</a:t>
            </a:fld>
            <a:endParaRPr lang="en-AE"/>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AE"/>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B3DF4780-BFA4-4EDD-AB92-F2C885E64E2C}" type="slidenum">
              <a:rPr lang="en-AE" smtClean="0"/>
              <a:t>‹#›</a:t>
            </a:fld>
            <a:endParaRPr lang="en-AE"/>
          </a:p>
        </p:txBody>
      </p:sp>
    </p:spTree>
    <p:extLst>
      <p:ext uri="{BB962C8B-B14F-4D97-AF65-F5344CB8AC3E}">
        <p14:creationId xmlns:p14="http://schemas.microsoft.com/office/powerpoint/2010/main" val="395615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E76585-B410-4487-962C-D6571C327AC4}" type="datetimeFigureOut">
              <a:rPr lang="en-AE" smtClean="0"/>
              <a:t>20/05/2025</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a:xfrm>
            <a:off x="10558300" y="5956137"/>
            <a:ext cx="1052508" cy="365125"/>
          </a:xfrm>
        </p:spPr>
        <p:txBody>
          <a:bodyPr/>
          <a:lstStyle/>
          <a:p>
            <a:fld id="{B3DF4780-BFA4-4EDD-AB92-F2C885E64E2C}" type="slidenum">
              <a:rPr lang="en-AE" smtClean="0"/>
              <a:t>‹#›</a:t>
            </a:fld>
            <a:endParaRPr lang="en-AE"/>
          </a:p>
        </p:txBody>
      </p:sp>
    </p:spTree>
    <p:extLst>
      <p:ext uri="{BB962C8B-B14F-4D97-AF65-F5344CB8AC3E}">
        <p14:creationId xmlns:p14="http://schemas.microsoft.com/office/powerpoint/2010/main" val="3483041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89E76585-B410-4487-962C-D6571C327AC4}" type="datetimeFigureOut">
              <a:rPr lang="en-AE" smtClean="0"/>
              <a:t>20/05/2025</a:t>
            </a:fld>
            <a:endParaRPr lang="en-AE"/>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AE"/>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3DF4780-BFA4-4EDD-AB92-F2C885E64E2C}" type="slidenum">
              <a:rPr lang="en-AE" smtClean="0"/>
              <a:t>‹#›</a:t>
            </a:fld>
            <a:endParaRPr lang="en-AE"/>
          </a:p>
        </p:txBody>
      </p:sp>
    </p:spTree>
    <p:extLst>
      <p:ext uri="{BB962C8B-B14F-4D97-AF65-F5344CB8AC3E}">
        <p14:creationId xmlns:p14="http://schemas.microsoft.com/office/powerpoint/2010/main" val="964243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9E76585-B410-4487-962C-D6571C327AC4}" type="datetimeFigureOut">
              <a:rPr lang="en-AE" smtClean="0"/>
              <a:t>20/05/2025</a:t>
            </a:fld>
            <a:endParaRPr lang="en-AE"/>
          </a:p>
        </p:txBody>
      </p:sp>
      <p:sp>
        <p:nvSpPr>
          <p:cNvPr id="6" name="Footer Placeholder 5"/>
          <p:cNvSpPr>
            <a:spLocks noGrp="1"/>
          </p:cNvSpPr>
          <p:nvPr>
            <p:ph type="ftr" sz="quarter" idx="11"/>
          </p:nvPr>
        </p:nvSpPr>
        <p:spPr/>
        <p:txBody>
          <a:bodyPr/>
          <a:lstStyle/>
          <a:p>
            <a:endParaRPr lang="en-AE"/>
          </a:p>
        </p:txBody>
      </p:sp>
      <p:sp>
        <p:nvSpPr>
          <p:cNvPr id="7" name="Slide Number Placeholder 6"/>
          <p:cNvSpPr>
            <a:spLocks noGrp="1"/>
          </p:cNvSpPr>
          <p:nvPr>
            <p:ph type="sldNum" sz="quarter" idx="12"/>
          </p:nvPr>
        </p:nvSpPr>
        <p:spPr/>
        <p:txBody>
          <a:bodyPr/>
          <a:lstStyle/>
          <a:p>
            <a:fld id="{B3DF4780-BFA4-4EDD-AB92-F2C885E64E2C}" type="slidenum">
              <a:rPr lang="en-AE" smtClean="0"/>
              <a:t>‹#›</a:t>
            </a:fld>
            <a:endParaRPr lang="en-AE"/>
          </a:p>
        </p:txBody>
      </p:sp>
    </p:spTree>
    <p:extLst>
      <p:ext uri="{BB962C8B-B14F-4D97-AF65-F5344CB8AC3E}">
        <p14:creationId xmlns:p14="http://schemas.microsoft.com/office/powerpoint/2010/main" val="1160598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E76585-B410-4487-962C-D6571C327AC4}" type="datetimeFigureOut">
              <a:rPr lang="en-AE" smtClean="0"/>
              <a:t>20/05/2025</a:t>
            </a:fld>
            <a:endParaRPr lang="en-AE"/>
          </a:p>
        </p:txBody>
      </p:sp>
      <p:sp>
        <p:nvSpPr>
          <p:cNvPr id="8" name="Footer Placeholder 7"/>
          <p:cNvSpPr>
            <a:spLocks noGrp="1"/>
          </p:cNvSpPr>
          <p:nvPr>
            <p:ph type="ftr" sz="quarter" idx="11"/>
          </p:nvPr>
        </p:nvSpPr>
        <p:spPr/>
        <p:txBody>
          <a:bodyPr/>
          <a:lstStyle/>
          <a:p>
            <a:endParaRPr lang="en-AE"/>
          </a:p>
        </p:txBody>
      </p:sp>
      <p:sp>
        <p:nvSpPr>
          <p:cNvPr id="9" name="Slide Number Placeholder 8"/>
          <p:cNvSpPr>
            <a:spLocks noGrp="1"/>
          </p:cNvSpPr>
          <p:nvPr>
            <p:ph type="sldNum" sz="quarter" idx="12"/>
          </p:nvPr>
        </p:nvSpPr>
        <p:spPr/>
        <p:txBody>
          <a:bodyPr/>
          <a:lstStyle/>
          <a:p>
            <a:fld id="{B3DF4780-BFA4-4EDD-AB92-F2C885E64E2C}" type="slidenum">
              <a:rPr lang="en-AE" smtClean="0"/>
              <a:t>‹#›</a:t>
            </a:fld>
            <a:endParaRPr lang="en-AE"/>
          </a:p>
        </p:txBody>
      </p:sp>
    </p:spTree>
    <p:extLst>
      <p:ext uri="{BB962C8B-B14F-4D97-AF65-F5344CB8AC3E}">
        <p14:creationId xmlns:p14="http://schemas.microsoft.com/office/powerpoint/2010/main" val="3957173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E76585-B410-4487-962C-D6571C327AC4}" type="datetimeFigureOut">
              <a:rPr lang="en-AE" smtClean="0"/>
              <a:t>20/05/2025</a:t>
            </a:fld>
            <a:endParaRPr lang="en-AE"/>
          </a:p>
        </p:txBody>
      </p:sp>
      <p:sp>
        <p:nvSpPr>
          <p:cNvPr id="4" name="Footer Placeholder 3"/>
          <p:cNvSpPr>
            <a:spLocks noGrp="1"/>
          </p:cNvSpPr>
          <p:nvPr>
            <p:ph type="ftr" sz="quarter" idx="11"/>
          </p:nvPr>
        </p:nvSpPr>
        <p:spPr/>
        <p:txBody>
          <a:bodyPr/>
          <a:lstStyle/>
          <a:p>
            <a:endParaRPr lang="en-AE"/>
          </a:p>
        </p:txBody>
      </p:sp>
      <p:sp>
        <p:nvSpPr>
          <p:cNvPr id="5" name="Slide Number Placeholder 4"/>
          <p:cNvSpPr>
            <a:spLocks noGrp="1"/>
          </p:cNvSpPr>
          <p:nvPr>
            <p:ph type="sldNum" sz="quarter" idx="12"/>
          </p:nvPr>
        </p:nvSpPr>
        <p:spPr/>
        <p:txBody>
          <a:bodyPr/>
          <a:lstStyle/>
          <a:p>
            <a:fld id="{B3DF4780-BFA4-4EDD-AB92-F2C885E64E2C}" type="slidenum">
              <a:rPr lang="en-AE" smtClean="0"/>
              <a:t>‹#›</a:t>
            </a:fld>
            <a:endParaRPr lang="en-AE"/>
          </a:p>
        </p:txBody>
      </p:sp>
    </p:spTree>
    <p:extLst>
      <p:ext uri="{BB962C8B-B14F-4D97-AF65-F5344CB8AC3E}">
        <p14:creationId xmlns:p14="http://schemas.microsoft.com/office/powerpoint/2010/main" val="1055940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E76585-B410-4487-962C-D6571C327AC4}" type="datetimeFigureOut">
              <a:rPr lang="en-AE" smtClean="0"/>
              <a:t>20/05/2025</a:t>
            </a:fld>
            <a:endParaRPr lang="en-AE"/>
          </a:p>
        </p:txBody>
      </p:sp>
      <p:sp>
        <p:nvSpPr>
          <p:cNvPr id="3" name="Footer Placeholder 2"/>
          <p:cNvSpPr>
            <a:spLocks noGrp="1"/>
          </p:cNvSpPr>
          <p:nvPr>
            <p:ph type="ftr" sz="quarter" idx="11"/>
          </p:nvPr>
        </p:nvSpPr>
        <p:spPr/>
        <p:txBody>
          <a:bodyPr/>
          <a:lstStyle/>
          <a:p>
            <a:endParaRPr lang="en-AE"/>
          </a:p>
        </p:txBody>
      </p:sp>
      <p:sp>
        <p:nvSpPr>
          <p:cNvPr id="4" name="Slide Number Placeholder 3"/>
          <p:cNvSpPr>
            <a:spLocks noGrp="1"/>
          </p:cNvSpPr>
          <p:nvPr>
            <p:ph type="sldNum" sz="quarter" idx="12"/>
          </p:nvPr>
        </p:nvSpPr>
        <p:spPr/>
        <p:txBody>
          <a:bodyPr/>
          <a:lstStyle/>
          <a:p>
            <a:fld id="{B3DF4780-BFA4-4EDD-AB92-F2C885E64E2C}" type="slidenum">
              <a:rPr lang="en-AE" smtClean="0"/>
              <a:t>‹#›</a:t>
            </a:fld>
            <a:endParaRPr lang="en-AE"/>
          </a:p>
        </p:txBody>
      </p:sp>
    </p:spTree>
    <p:extLst>
      <p:ext uri="{BB962C8B-B14F-4D97-AF65-F5344CB8AC3E}">
        <p14:creationId xmlns:p14="http://schemas.microsoft.com/office/powerpoint/2010/main" val="3421334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89E76585-B410-4487-962C-D6571C327AC4}" type="datetimeFigureOut">
              <a:rPr lang="en-AE" smtClean="0"/>
              <a:t>20/05/2025</a:t>
            </a:fld>
            <a:endParaRPr lang="en-AE"/>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AE"/>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B3DF4780-BFA4-4EDD-AB92-F2C885E64E2C}" type="slidenum">
              <a:rPr lang="en-AE" smtClean="0"/>
              <a:t>‹#›</a:t>
            </a:fld>
            <a:endParaRPr lang="en-AE"/>
          </a:p>
        </p:txBody>
      </p:sp>
    </p:spTree>
    <p:extLst>
      <p:ext uri="{BB962C8B-B14F-4D97-AF65-F5344CB8AC3E}">
        <p14:creationId xmlns:p14="http://schemas.microsoft.com/office/powerpoint/2010/main" val="2338722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E76585-B410-4487-962C-D6571C327AC4}" type="datetimeFigureOut">
              <a:rPr lang="en-AE" smtClean="0"/>
              <a:t>20/05/2025</a:t>
            </a:fld>
            <a:endParaRPr lang="en-AE"/>
          </a:p>
        </p:txBody>
      </p:sp>
      <p:sp>
        <p:nvSpPr>
          <p:cNvPr id="6" name="Footer Placeholder 5"/>
          <p:cNvSpPr>
            <a:spLocks noGrp="1"/>
          </p:cNvSpPr>
          <p:nvPr>
            <p:ph type="ftr" sz="quarter" idx="11"/>
          </p:nvPr>
        </p:nvSpPr>
        <p:spPr/>
        <p:txBody>
          <a:bodyPr/>
          <a:lstStyle/>
          <a:p>
            <a:endParaRPr lang="en-AE"/>
          </a:p>
        </p:txBody>
      </p:sp>
      <p:sp>
        <p:nvSpPr>
          <p:cNvPr id="7" name="Slide Number Placeholder 6"/>
          <p:cNvSpPr>
            <a:spLocks noGrp="1"/>
          </p:cNvSpPr>
          <p:nvPr>
            <p:ph type="sldNum" sz="quarter" idx="12"/>
          </p:nvPr>
        </p:nvSpPr>
        <p:spPr/>
        <p:txBody>
          <a:bodyPr/>
          <a:lstStyle/>
          <a:p>
            <a:fld id="{B3DF4780-BFA4-4EDD-AB92-F2C885E64E2C}" type="slidenum">
              <a:rPr lang="en-AE" smtClean="0"/>
              <a:t>‹#›</a:t>
            </a:fld>
            <a:endParaRPr lang="en-AE"/>
          </a:p>
        </p:txBody>
      </p:sp>
    </p:spTree>
    <p:extLst>
      <p:ext uri="{BB962C8B-B14F-4D97-AF65-F5344CB8AC3E}">
        <p14:creationId xmlns:p14="http://schemas.microsoft.com/office/powerpoint/2010/main" val="2436664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E76585-B410-4487-962C-D6571C327AC4}" type="datetimeFigureOut">
              <a:rPr lang="en-AE" smtClean="0"/>
              <a:t>20/05/2025</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B3DF4780-BFA4-4EDD-AB92-F2C885E64E2C}" type="slidenum">
              <a:rPr lang="en-AE" smtClean="0"/>
              <a:t>‹#›</a:t>
            </a:fld>
            <a:endParaRPr lang="en-AE"/>
          </a:p>
        </p:txBody>
      </p:sp>
    </p:spTree>
    <p:extLst>
      <p:ext uri="{BB962C8B-B14F-4D97-AF65-F5344CB8AC3E}">
        <p14:creationId xmlns:p14="http://schemas.microsoft.com/office/powerpoint/2010/main" val="1546621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89E76585-B410-4487-962C-D6571C327AC4}" type="datetimeFigureOut">
              <a:rPr lang="en-AE" smtClean="0"/>
              <a:t>20/05/2025</a:t>
            </a:fld>
            <a:endParaRPr lang="en-AE"/>
          </a:p>
        </p:txBody>
      </p:sp>
      <p:sp>
        <p:nvSpPr>
          <p:cNvPr id="5" name="Footer Placeholder 4"/>
          <p:cNvSpPr>
            <a:spLocks noGrp="1"/>
          </p:cNvSpPr>
          <p:nvPr>
            <p:ph type="ftr" sz="quarter" idx="11"/>
          </p:nvPr>
        </p:nvSpPr>
        <p:spPr>
          <a:xfrm>
            <a:off x="774923" y="5951811"/>
            <a:ext cx="7896279" cy="365125"/>
          </a:xfrm>
        </p:spPr>
        <p:txBody>
          <a:bodyPr/>
          <a:lstStyle/>
          <a:p>
            <a:endParaRPr lang="en-AE"/>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B3DF4780-BFA4-4EDD-AB92-F2C885E64E2C}" type="slidenum">
              <a:rPr lang="en-AE" smtClean="0"/>
              <a:t>‹#›</a:t>
            </a:fld>
            <a:endParaRPr lang="en-AE"/>
          </a:p>
        </p:txBody>
      </p:sp>
    </p:spTree>
    <p:extLst>
      <p:ext uri="{BB962C8B-B14F-4D97-AF65-F5344CB8AC3E}">
        <p14:creationId xmlns:p14="http://schemas.microsoft.com/office/powerpoint/2010/main" val="99665206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89E76585-B410-4487-962C-D6571C327AC4}" type="datetimeFigureOut">
              <a:rPr lang="en-AE" smtClean="0"/>
              <a:t>20/05/2025</a:t>
            </a:fld>
            <a:endParaRPr lang="en-AE"/>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AE"/>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B3DF4780-BFA4-4EDD-AB92-F2C885E64E2C}" type="slidenum">
              <a:rPr lang="en-AE" smtClean="0"/>
              <a:t>‹#›</a:t>
            </a:fld>
            <a:endParaRPr lang="en-AE"/>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513811807"/>
      </p:ext>
    </p:extLst>
  </p:cSld>
  <p:clrMap bg1="lt1" tx1="dk1" bg2="lt2" tx2="dk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AI agents</a:t>
            </a:r>
          </a:p>
        </p:txBody>
      </p:sp>
      <p:sp>
        <p:nvSpPr>
          <p:cNvPr id="3" name="Subtitle 2"/>
          <p:cNvSpPr>
            <a:spLocks noGrp="1"/>
          </p:cNvSpPr>
          <p:nvPr>
            <p:ph type="subTitle" idx="1"/>
          </p:nvPr>
        </p:nvSpPr>
        <p:spPr/>
        <p:txBody>
          <a:bodyPr/>
          <a:lstStyle/>
          <a:p>
            <a:r>
              <a:t>Created: October 24,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to AI Agents</a:t>
            </a:r>
          </a:p>
        </p:txBody>
      </p:sp>
      <p:sp>
        <p:nvSpPr>
          <p:cNvPr id="3" name="Content Placeholder 2"/>
          <p:cNvSpPr>
            <a:spLocks noGrp="1"/>
          </p:cNvSpPr>
          <p:nvPr>
            <p:ph idx="1"/>
          </p:nvPr>
        </p:nvSpPr>
        <p:spPr/>
        <p:txBody>
          <a:bodyPr/>
          <a:lstStyle/>
          <a:p>
            <a:pPr>
              <a:defRPr sz="1200" b="1">
                <a:latin typeface="Arial"/>
              </a:defRPr>
            </a:pPr>
            <a:r>
              <a:t>What is an AI Agent? An AI agent is like a smart robot or a computer program that can perceive its environment (the world around it) and act to achieve a specific goal. Think of it as a video game character that can make its own decisions. It's not just following a script; it's using its "brain" (algorithms) to figure out what to do next.</a:t>
            </a:r>
          </a:p>
          <a:p>
            <a:pPr>
              <a:defRPr sz="1200" b="1">
                <a:latin typeface="Arial"/>
              </a:defRPr>
            </a:pPr>
            <a:r>
              <a:t>Key Components: An AI agent usually has these parts:</a:t>
            </a:r>
          </a:p>
          <a:p>
            <a:pPr>
              <a:defRPr sz="1200" b="1">
                <a:latin typeface="Arial"/>
              </a:defRPr>
            </a:pPr>
            <a:r>
              <a:t>Percepts (Sensors): How the agent "sees" the world. This could be cameras, microphones, or data from the internet. Like our eyes and ears, these sensors provide information.</a:t>
            </a:r>
          </a:p>
          <a:p>
            <a:pPr>
              <a:defRPr sz="1200" b="1">
                <a:latin typeface="Arial"/>
              </a:defRPr>
            </a:pPr>
            <a:r>
              <a:t>Environment: The world the agent lives in and interacts with. This could be a physical space, a computer game, or even a website.</a:t>
            </a:r>
          </a:p>
          <a:p>
            <a:pPr>
              <a:defRPr sz="1200" b="1">
                <a:latin typeface="Arial"/>
              </a:defRPr>
            </a:pPr>
            <a:r>
              <a:t>Actions (Actuators): What the agent can do. This might be moving around, typing on a keyboard, or displaying information on a screen. Think of arms, legs, or a computer mouse.</a:t>
            </a:r>
          </a:p>
          <a:p>
            <a:pPr>
              <a:defRPr sz="1200" b="1">
                <a:latin typeface="Arial"/>
              </a:defRPr>
            </a:pPr>
            <a:r>
              <a:t>Goal: What the agent is trying to achieve. This could be winning a game, cleaning a room, or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Types of AI Agents</a:t>
            </a:r>
          </a:p>
        </p:txBody>
      </p:sp>
      <p:sp>
        <p:nvSpPr>
          <p:cNvPr id="3" name="Content Placeholder 2"/>
          <p:cNvSpPr>
            <a:spLocks noGrp="1"/>
          </p:cNvSpPr>
          <p:nvPr>
            <p:ph idx="1"/>
          </p:nvPr>
        </p:nvSpPr>
        <p:spPr/>
        <p:txBody>
          <a:bodyPr/>
          <a:lstStyle/>
          <a:p>
            <a:pPr>
              <a:defRPr sz="1200" b="1">
                <a:latin typeface="Arial"/>
              </a:defRPr>
            </a:pPr>
            <a:r>
              <a:t>Simple Reflex Agents: These agents react directly to what they perceive. They have a set of "if-then" rules. If they see X, they do Y. Like a thermostat: if the temperature is too low, turn on the heater.</a:t>
            </a:r>
          </a:p>
          <a:p>
            <a:pPr>
              <a:defRPr sz="1200" b="1">
                <a:latin typeface="Arial"/>
              </a:defRPr>
            </a:pPr>
            <a:r>
              <a:t>Example: A spam filter. If an email contains certain keywords (like "viagra" or "lottery"), mark it as spam.</a:t>
            </a:r>
          </a:p>
          <a:p>
            <a:pPr>
              <a:defRPr sz="1200" b="1">
                <a:latin typeface="Arial"/>
              </a:defRPr>
            </a:pPr>
            <a:r>
              <a:t>Model-Based Reflex Agents: These agents are smarter than simple reflex agents. They have a "model" of the world, which is like a mental picture of how things work. They use this model to figure out the best action to take.</a:t>
            </a:r>
          </a:p>
          <a:p>
            <a:pPr>
              <a:defRPr sz="1200" b="1">
                <a:latin typeface="Arial"/>
              </a:defRPr>
            </a:pPr>
            <a:r>
              <a:t>Example: A self-driving car. It has a model of the road, other cars, and traffic rules. It uses this model to decide when to accelerate, brake, or turn.</a:t>
            </a:r>
          </a:p>
          <a:p>
            <a:pPr>
              <a:defRPr sz="1200" b="1">
                <a:latin typeface="Arial"/>
              </a:defRPr>
            </a:pPr>
            <a:r>
              <a:t>Goal-Based Agents: These agents have a specific goal in mind, and they try to take actions that will get them closer to that goal. They use search algorithms to find the best path.</a:t>
            </a:r>
          </a:p>
          <a:p>
            <a:pPr>
              <a:defRPr sz="1200" b="1">
                <a:latin typeface="Arial"/>
              </a:defRPr>
            </a:pPr>
            <a:r>
              <a:t>Example: A robot trying to solve a maze. It knows where it is, where it wants to go, and it explores...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Designing a Simple AI Agent</a:t>
            </a:r>
          </a:p>
        </p:txBody>
      </p:sp>
      <p:sp>
        <p:nvSpPr>
          <p:cNvPr id="3" name="Content Placeholder 2"/>
          <p:cNvSpPr>
            <a:spLocks noGrp="1"/>
          </p:cNvSpPr>
          <p:nvPr>
            <p:ph idx="1"/>
          </p:nvPr>
        </p:nvSpPr>
        <p:spPr/>
        <p:txBody>
          <a:bodyPr/>
          <a:lstStyle/>
          <a:p>
            <a:pPr>
              <a:defRPr sz="1200" b="1">
                <a:latin typeface="Arial"/>
              </a:defRPr>
            </a:pPr>
            <a:r>
              <a:t>Task: Design an AI agent to play a simple tic-tac-toe game against a human player.</a:t>
            </a:r>
          </a:p>
          <a:p>
            <a:pPr>
              <a:defRPr sz="1200" b="1">
                <a:latin typeface="Arial"/>
              </a:defRPr>
            </a:pPr>
            <a:r>
              <a:t>Environment: The tic-tac-toe board (3x3 grid).</a:t>
            </a:r>
          </a:p>
          <a:p>
            <a:pPr>
              <a:defRPr sz="1200" b="1">
                <a:latin typeface="Arial"/>
              </a:defRPr>
            </a:pPr>
            <a:r>
              <a:t>Percepts: The current state of the board (which squares are occupied by X, O, or are empty).</a:t>
            </a:r>
          </a:p>
          <a:p>
            <a:pPr>
              <a:defRPr sz="1200" b="1">
                <a:latin typeface="Arial"/>
              </a:defRPr>
            </a:pPr>
            <a:r>
              <a:t>Actions: Placing an O in an empty square.</a:t>
            </a:r>
          </a:p>
          <a:p>
            <a:pPr>
              <a:defRPr sz="1200" b="1">
                <a:latin typeface="Arial"/>
              </a:defRPr>
            </a:pPr>
            <a:r>
              <a:t>Goal: Win the game (get three O's in a row, column, or diagonal) or, at least, draw the game.</a:t>
            </a:r>
          </a:p>
          <a:p>
            <a:pPr>
              <a:defRPr sz="1200" b="1">
                <a:latin typeface="Arial"/>
              </a:defRPr>
            </a:pPr>
            <a:r>
              <a:t>Decision-Making Process:</a:t>
            </a:r>
          </a:p>
          <a:p>
            <a:pPr>
              <a:defRPr sz="1200" b="1">
                <a:latin typeface="Arial"/>
              </a:defRPr>
            </a:pPr>
            <a:r>
              <a:t>1.  The agent perceives the current state of the board.</a:t>
            </a:r>
          </a:p>
          <a:p>
            <a:pPr>
              <a:defRPr sz="1200" b="1">
                <a:latin typeface="Arial"/>
              </a:defRPr>
            </a:pPr>
            <a:r>
              <a:t>2.  It checks if it can win in the next move. If so, it places an O in the winning square.</a:t>
            </a:r>
          </a:p>
          <a:p>
            <a:pPr>
              <a:defRPr sz="1200" b="1">
                <a:latin typeface="Arial"/>
              </a:defRPr>
            </a:pPr>
            <a:r>
              <a:t>3.  If it can't win, it checks if the human player (X) can win in the next move. If so, it blocks the player by placing an O in the square that would allow the human to win.</a:t>
            </a:r>
          </a:p>
          <a:p>
            <a:pPr>
              <a:defRPr sz="1200" b="1">
                <a:latin typeface="Arial"/>
              </a:defRPr>
            </a:pPr>
            <a:r>
              <a:t>4.  If neither of the above is true, it chooses an empty square randomly or using a simple strategy (e.g., prefer the center square).</a:t>
            </a:r>
          </a:p>
          <a:p>
            <a:pPr>
              <a:defRPr sz="1200" b="1">
                <a:latin typeface="Arial"/>
              </a:defRPr>
            </a:pPr>
            <a:r>
              <a:t>Paragraph: The tic-tac-toe AI agent operates by first observing the board state. It prioritizes winning by checking for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Agent Architectures: Strengths and Weaknesses</a:t>
            </a:r>
          </a:p>
        </p:txBody>
      </p:sp>
      <p:sp>
        <p:nvSpPr>
          <p:cNvPr id="3" name="Content Placeholder 2"/>
          <p:cNvSpPr>
            <a:spLocks noGrp="1"/>
          </p:cNvSpPr>
          <p:nvPr>
            <p:ph idx="1"/>
          </p:nvPr>
        </p:nvSpPr>
        <p:spPr/>
        <p:txBody>
          <a:bodyPr/>
          <a:lstStyle/>
          <a:p>
            <a:pPr>
              <a:defRPr sz="1200" b="1">
                <a:latin typeface="Arial"/>
              </a:defRPr>
            </a:pPr>
            <a:r>
              <a:t>What is an Architecture? Think of it as the blueprint or the overall design of the AI agent. It specifies how the different components (percepts, actions, goal) are organized and interact.</a:t>
            </a:r>
          </a:p>
          <a:p>
            <a:pPr>
              <a:defRPr sz="1200" b="1">
                <a:latin typeface="Arial"/>
              </a:defRPr>
            </a:pPr>
            <a:r>
              <a:t>Architecture 1: Rule-Based System (e.g., Expert System):</a:t>
            </a:r>
          </a:p>
          <a:p>
            <a:pPr>
              <a:defRPr sz="1200" b="1">
                <a:latin typeface="Arial"/>
              </a:defRPr>
            </a:pPr>
            <a:r>
              <a:t>Description: This architecture uses a set of "if-then" rules to make decisions. It's like a very detailed flowchart.</a:t>
            </a:r>
          </a:p>
          <a:p>
            <a:pPr>
              <a:defRPr sz="1200" b="1">
                <a:latin typeface="Arial"/>
              </a:defRPr>
            </a:pPr>
            <a:r>
              <a:t>Strengths:</a:t>
            </a:r>
          </a:p>
          <a:p>
            <a:pPr>
              <a:defRPr sz="1200" b="1">
                <a:latin typeface="Arial"/>
              </a:defRPr>
            </a:pPr>
            <a:r>
              <a:t>Easy to Understand: The rules are usually written in a human-readable format, so it's easy to see why the agent is making a particular decision.</a:t>
            </a:r>
          </a:p>
          <a:p>
            <a:pPr>
              <a:defRPr sz="1200" b="1">
                <a:latin typeface="Arial"/>
              </a:defRPr>
            </a:pPr>
            <a:r>
              <a:t>Easy to Modify: You can add or remove rules to change the agent's behavior.</a:t>
            </a:r>
          </a:p>
          <a:p>
            <a:pPr>
              <a:defRPr sz="1200" b="1">
                <a:latin typeface="Arial"/>
              </a:defRPr>
            </a:pPr>
            <a:r>
              <a:t>Weaknesses:</a:t>
            </a:r>
          </a:p>
          <a:p>
            <a:pPr>
              <a:defRPr sz="1200" b="1">
                <a:latin typeface="Arial"/>
              </a:defRPr>
            </a:pPr>
            <a:r>
              <a:t>Can be Complex: If the environment is very complex, the number of rules can become overwhelming.</a:t>
            </a:r>
          </a:p>
          <a:p>
            <a:pPr>
              <a:defRPr sz="1200" b="1">
                <a:latin typeface="Arial"/>
              </a:defRPr>
            </a:pPr>
            <a:r>
              <a:t>Difficult to Learn: The rules usually have to be written by hand, which can be time-consuming and require expert knowledge.</a:t>
            </a:r>
          </a:p>
          <a:p>
            <a:pPr>
              <a:defRPr sz="1200" b="1">
                <a:latin typeface="Arial"/>
              </a:defRPr>
            </a:pPr>
            <a:r>
              <a:t>Architecture 2: Machine Learning-Based System (e.g., Neural Network):</a:t>
            </a:r>
          </a:p>
          <a:p>
            <a:pPr>
              <a:defRPr sz="1200" b="1">
                <a:latin typeface="Arial"/>
              </a:defRPr>
            </a:pPr>
            <a:r>
              <a:t>Description: This 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Real-World Applications and Ethical Considerations</a:t>
            </a:r>
          </a:p>
        </p:txBody>
      </p:sp>
      <p:sp>
        <p:nvSpPr>
          <p:cNvPr id="3" name="Content Placeholder 2"/>
          <p:cNvSpPr>
            <a:spLocks noGrp="1"/>
          </p:cNvSpPr>
          <p:nvPr>
            <p:ph idx="1"/>
          </p:nvPr>
        </p:nvSpPr>
        <p:spPr/>
        <p:txBody>
          <a:bodyPr/>
          <a:lstStyle/>
          <a:p>
            <a:pPr>
              <a:defRPr sz="1200" b="1">
                <a:latin typeface="Arial"/>
              </a:defRPr>
            </a:pPr>
            <a:r>
              <a:t>Real-World Examples: AI agents are everywhere!</a:t>
            </a:r>
          </a:p>
          <a:p>
            <a:pPr>
              <a:defRPr sz="1200" b="1">
                <a:latin typeface="Arial"/>
              </a:defRPr>
            </a:pPr>
            <a:r>
              <a:t>Virtual Assistants: Siri, Alexa, and Google Assistant are AI agents that respond to voice commands.</a:t>
            </a:r>
          </a:p>
          <a:p>
            <a:pPr>
              <a:defRPr sz="1200" b="1">
                <a:latin typeface="Arial"/>
              </a:defRPr>
            </a:pPr>
            <a:r>
              <a:t>Recommendation Systems: Netflix, Amazon, and YouTube use AI agents to recommend movies, products, and videos.</a:t>
            </a:r>
          </a:p>
          <a:p>
            <a:pPr>
              <a:defRPr sz="1200" b="1">
                <a:latin typeface="Arial"/>
              </a:defRPr>
            </a:pPr>
            <a:r>
              <a:t>Chatbots: Many websites use chatbots to answer customer questions.</a:t>
            </a:r>
          </a:p>
          <a:p>
            <a:pPr>
              <a:defRPr sz="1200" b="1">
                <a:latin typeface="Arial"/>
              </a:defRPr>
            </a:pPr>
            <a:r>
              <a:t>Robotics: Robots used in manufacturing, surgery, and exploration are often controlled by AI agents.</a:t>
            </a:r>
          </a:p>
          <a:p>
            <a:pPr>
              <a:defRPr sz="1200" b="1">
                <a:latin typeface="Arial"/>
              </a:defRPr>
            </a:pPr>
            <a:r>
              <a:t>Ethical Considerations: As AI agents become more powerful, it's important to consider the ethical implications.</a:t>
            </a:r>
          </a:p>
          <a:p>
            <a:pPr>
              <a:defRPr sz="1200" b="1">
                <a:latin typeface="Arial"/>
              </a:defRPr>
            </a:pPr>
            <a:r>
              <a:t>Bias: AI agents can be biased if the data they are trained on is biased. This can lead to unfair or discriminatory outcomes.</a:t>
            </a:r>
          </a:p>
          <a:p>
            <a:pPr>
              <a:defRPr sz="1200" b="1">
                <a:latin typeface="Arial"/>
              </a:defRPr>
            </a:pPr>
            <a:r>
              <a:t>Privacy: AI agents can collect a lot of data about us, which raises privacy concerns.</a:t>
            </a:r>
          </a:p>
          <a:p>
            <a:pPr>
              <a:defRPr sz="1200" b="1">
                <a:latin typeface="Arial"/>
              </a:defRPr>
            </a:pPr>
            <a:r>
              <a:t>Job Displacement: AI agents could potentially replace human workers in some jobs.</a:t>
            </a:r>
          </a:p>
          <a:p>
            <a:pPr>
              <a:defRPr sz="1200" b="1">
                <a:latin typeface="Arial"/>
              </a:defRPr>
            </a:pPr>
            <a:r>
              <a:t>Responsibility: Who is responsible if an AI agent makes a mistake?</a:t>
            </a:r>
          </a:p>
          <a:p>
            <a:pPr>
              <a:defRPr sz="1200" b="1">
                <a:latin typeface="Arial"/>
              </a:defRPr>
            </a:pPr>
            <a:r>
              <a:t>The Future of AI Agents: AI agents are c...</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GVDATA" val="ew0KICAiZG9jSUQiOiAiODE4NDE5YmYtNWYwYi00ZmJmLWFjM2UtYjBkYjg5MTk5YjM3Ig0KfQ=="/>
  <p:tag name="GVDATA0" val="(end)"/>
</p:tagLst>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9</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Gill Sans MT</vt:lpstr>
      <vt:lpstr>Wingdings 2</vt:lpstr>
      <vt:lpstr>Dividend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Fadi Yaqoub Saeed Alzaza</dc:creator>
  <cp:lastModifiedBy>Fadi Yaqoub Saeed Alzaza</cp:lastModifiedBy>
  <cp:revision>10</cp:revision>
  <dcterms:created xsi:type="dcterms:W3CDTF">2025-05-20T08:08:47Z</dcterms:created>
  <dcterms:modified xsi:type="dcterms:W3CDTF">2025-05-20T09:41:58Z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GVData">
    <vt:lpwstr>ew0KICAiZG9jSUQiOiAiODE4NDE5YmYtNWYwYi00ZmJmLWFjM2UtYjBkYjg5MTk5YjM3Ig0KfQ==</vt:lpwstr>
  </property>
  <property fmtid="{D5CDD505-2E9C-101B-9397-08002B2CF9AE}" pid="3" name="GVData0">
    <vt:lpwstr>(end)</vt:lpwstr>
  </property>
</Properties>
</file>