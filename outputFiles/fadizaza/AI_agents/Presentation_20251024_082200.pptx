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agents</a:t>
            </a:r>
          </a:p>
        </p:txBody>
      </p:sp>
      <p:sp>
        <p:nvSpPr>
          <p:cNvPr id="3" name="Subtitle 2"/>
          <p:cNvSpPr>
            <a:spLocks noGrp="1"/>
          </p:cNvSpPr>
          <p:nvPr>
            <p:ph type="subTitle" idx="1"/>
          </p:nvPr>
        </p:nvSpPr>
        <p:spPr/>
        <p:txBody>
          <a:bodyPr/>
          <a:lstStyle/>
          <a:p>
            <a:r>
              <a:t>Created: October 24,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to AI Agents</a:t>
            </a:r>
          </a:p>
        </p:txBody>
      </p:sp>
      <p:sp>
        <p:nvSpPr>
          <p:cNvPr id="3" name="Content Placeholder 2"/>
          <p:cNvSpPr>
            <a:spLocks noGrp="1"/>
          </p:cNvSpPr>
          <p:nvPr>
            <p:ph idx="1"/>
          </p:nvPr>
        </p:nvSpPr>
        <p:spPr/>
        <p:txBody>
          <a:bodyPr/>
          <a:lstStyle/>
          <a:p>
            <a:pPr>
              <a:defRPr sz="1200">
                <a:latin typeface="Arial"/>
              </a:defRPr>
            </a:pPr>
            <a:r>
              <a:t>What is an AI Agent? An AI agent is an entity that perceives its environment through sensors and acts upon that environment through actuators. Think of it as an intelligent robot or software program capable of making decisions.</a:t>
            </a:r>
          </a:p>
          <a:p>
            <a:pPr>
              <a:defRPr sz="1200">
                <a:latin typeface="Arial"/>
              </a:defRPr>
            </a:pPr>
            <a:r>
              <a:t>Key Components of an AI Agent Architecture:</a:t>
            </a:r>
          </a:p>
          <a:p>
            <a:pPr>
              <a:defRPr sz="1200">
                <a:latin typeface="Arial"/>
              </a:defRPr>
            </a:pPr>
            <a:r>
              <a:t>Sensors: Gather information from the environment (e.g., cameras, microphones, thermometers).</a:t>
            </a:r>
          </a:p>
          <a:p>
            <a:pPr>
              <a:defRPr sz="1200">
                <a:latin typeface="Arial"/>
              </a:defRPr>
            </a:pPr>
            <a:r>
              <a:t>Actuators: Allow the agent to act on the environment (e.g., motors, displays, speakers).</a:t>
            </a:r>
          </a:p>
          <a:p>
            <a:pPr>
              <a:defRPr sz="1200">
                <a:latin typeface="Arial"/>
              </a:defRPr>
            </a:pPr>
            <a:r>
              <a:t>Percepts: The agent's input at any given moment.</a:t>
            </a:r>
          </a:p>
          <a:p>
            <a:pPr>
              <a:defRPr sz="1200">
                <a:latin typeface="Arial"/>
              </a:defRPr>
            </a:pPr>
            <a:r>
              <a:t>Agent Function: Maps percept sequences to actions.  This is the core logic.</a:t>
            </a:r>
          </a:p>
          <a:p>
            <a:pPr>
              <a:defRPr sz="1200">
                <a:latin typeface="Arial"/>
              </a:defRPr>
            </a:pPr>
            <a:r>
              <a:t>Environment: The world the agent operates in.</a:t>
            </a:r>
          </a:p>
          <a:p>
            <a:pPr>
              <a:defRPr sz="1200">
                <a:latin typeface="Arial"/>
              </a:defRPr>
            </a:pPr>
            <a:r>
              <a:t>Rationality: A rational agent acts to maximize its expected performance measure, based on its percept sequence and built-in knowledge. It aims to do the "right thing."</a:t>
            </a:r>
          </a:p>
          <a:p>
            <a:pPr>
              <a:defRPr sz="1200">
                <a:latin typeface="Arial"/>
              </a:defRPr>
            </a:pPr>
            <a:r>
              <a:t>Example: A self-driving car uses cameras (sensors) to "see" the road and steering wheel/accelerator (actuators) to control its movement.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of AI Agents: Simple Reflex Agents</a:t>
            </a:r>
          </a:p>
        </p:txBody>
      </p:sp>
      <p:sp>
        <p:nvSpPr>
          <p:cNvPr id="3" name="Content Placeholder 2"/>
          <p:cNvSpPr>
            <a:spLocks noGrp="1"/>
          </p:cNvSpPr>
          <p:nvPr>
            <p:ph idx="1"/>
          </p:nvPr>
        </p:nvSpPr>
        <p:spPr/>
        <p:txBody>
          <a:bodyPr/>
          <a:lstStyle/>
          <a:p>
            <a:pPr>
              <a:defRPr sz="1400">
                <a:latin typeface="Arial"/>
              </a:defRPr>
            </a:pPr>
            <a:r>
              <a:t>Simple Reflex Agents: The simplest type of agent. They choose actions based only on the current percept. They have direct condition-action rules.</a:t>
            </a:r>
          </a:p>
          <a:p>
            <a:pPr>
              <a:defRPr sz="1400">
                <a:latin typeface="Arial"/>
              </a:defRPr>
            </a:pPr>
            <a:r>
              <a:t>How They Work: "If condition, then action." No memory or internal state is involved.</a:t>
            </a:r>
          </a:p>
          <a:p>
            <a:pPr>
              <a:defRPr sz="1400">
                <a:latin typeface="Arial"/>
              </a:defRPr>
            </a:pPr>
            <a:r>
              <a:t>Example: A thermostat. IF temperature is below set point, THEN turn on heater.</a:t>
            </a:r>
          </a:p>
          <a:p>
            <a:pPr>
              <a:defRPr sz="1400">
                <a:latin typeface="Arial"/>
              </a:defRPr>
            </a:pPr>
            <a:r>
              <a:t>Limitations:</a:t>
            </a:r>
          </a:p>
          <a:p>
            <a:pPr>
              <a:defRPr sz="1400">
                <a:latin typeface="Arial"/>
              </a:defRPr>
            </a:pPr>
            <a:r>
              <a:t>Limited intelligence. They can't handle partial observability (when they can't see the whole picture).</a:t>
            </a:r>
          </a:p>
          <a:p>
            <a:pPr>
              <a:defRPr sz="1400">
                <a:latin typeface="Arial"/>
              </a:defRPr>
            </a:pPr>
            <a:r>
              <a:t>Difficulty dealing with situations not explicitly programmed. Can't learn or adapt.</a:t>
            </a:r>
          </a:p>
          <a:p>
            <a:pPr>
              <a:defRPr sz="1400">
                <a:latin typeface="Arial"/>
              </a:defRPr>
            </a:pPr>
            <a:r>
              <a:t>Analogy: Like a simple light switch – it only responds to whether it’s pushed or not.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of AI Agents: Model-Based &amp; Goal-Based Agents</a:t>
            </a:r>
          </a:p>
        </p:txBody>
      </p:sp>
      <p:sp>
        <p:nvSpPr>
          <p:cNvPr id="3" name="Content Placeholder 2"/>
          <p:cNvSpPr>
            <a:spLocks noGrp="1"/>
          </p:cNvSpPr>
          <p:nvPr>
            <p:ph idx="1"/>
          </p:nvPr>
        </p:nvSpPr>
        <p:spPr/>
        <p:txBody>
          <a:bodyPr/>
          <a:lstStyle/>
          <a:p>
            <a:pPr>
              <a:defRPr sz="1200">
                <a:latin typeface="Arial"/>
              </a:defRPr>
            </a:pPr>
            <a:r>
              <a:t>Model-Based Agents: Maintain an internal "model" of the world. They use this model to predict what will happen if they perform a certain action.</a:t>
            </a:r>
          </a:p>
          <a:p>
            <a:pPr>
              <a:defRPr sz="1200">
                <a:latin typeface="Arial"/>
              </a:defRPr>
            </a:pPr>
            <a:r>
              <a:t>How They Work: Updates its internal state based on percepts and uses the model to decide on the best action.  Handles partial observability better than simple reflex agents.</a:t>
            </a:r>
          </a:p>
          <a:p>
            <a:pPr>
              <a:defRPr sz="1200">
                <a:latin typeface="Arial"/>
              </a:defRPr>
            </a:pPr>
            <a:r>
              <a:t>Example: A robot vacuum cleaner that creates a map of your house. It uses the map to plan its cleaning route.</a:t>
            </a:r>
          </a:p>
          <a:p>
            <a:pPr>
              <a:defRPr sz="1200">
                <a:latin typeface="Arial"/>
              </a:defRPr>
            </a:pPr>
            <a:r>
              <a:t>Goal-Based Agents:  These agents have a goal they're trying to achieve. Their actions are chosen to reach that goal.</a:t>
            </a:r>
          </a:p>
          <a:p>
            <a:pPr>
              <a:defRPr sz="1200">
                <a:latin typeface="Arial"/>
              </a:defRPr>
            </a:pPr>
            <a:r>
              <a:t>How They Work: Use search and planning algorithms to find sequences of actions that lead to the desired goal state.  They need a "goal test" to know when they've achieved the goal.</a:t>
            </a:r>
          </a:p>
          <a:p>
            <a:pPr>
              <a:defRPr sz="1200">
                <a:latin typeface="Arial"/>
              </a:defRPr>
            </a:pPr>
            <a:r>
              <a:t>Example: A navigation app like Google Maps. Your goal is to reach a specific destination, and the app calculates the best route. Model of the road network is used to determine the best route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Design: Building Your Own AI Agent</a:t>
            </a:r>
          </a:p>
        </p:txBody>
      </p:sp>
      <p:sp>
        <p:nvSpPr>
          <p:cNvPr id="3" name="Content Placeholder 2"/>
          <p:cNvSpPr>
            <a:spLocks noGrp="1"/>
          </p:cNvSpPr>
          <p:nvPr>
            <p:ph idx="1"/>
          </p:nvPr>
        </p:nvSpPr>
        <p:spPr/>
        <p:txBody>
          <a:bodyPr/>
          <a:lstStyle/>
          <a:p>
            <a:pPr>
              <a:defRPr sz="1400">
                <a:latin typeface="Arial"/>
              </a:defRPr>
            </a:pPr>
            <a:r>
              <a:t>Let's design an AI agent for a specific task: Cleaning a room.</a:t>
            </a:r>
          </a:p>
          <a:p>
            <a:pPr>
              <a:defRPr sz="1400">
                <a:latin typeface="Arial"/>
              </a:defRPr>
            </a:pPr>
            <a:r>
              <a:t>1. Define the Environment: A room with furniture, dust, and obstacles.</a:t>
            </a:r>
          </a:p>
          <a:p>
            <a:pPr>
              <a:defRPr sz="1400">
                <a:latin typeface="Arial"/>
              </a:defRPr>
            </a:pPr>
            <a:r>
              <a:t>2. Identify Sensors:</a:t>
            </a:r>
          </a:p>
          <a:p>
            <a:pPr>
              <a:defRPr sz="1400">
                <a:latin typeface="Arial"/>
              </a:defRPr>
            </a:pPr>
            <a:r>
              <a:t>Camera (to identify objects and dust)</a:t>
            </a:r>
          </a:p>
          <a:p>
            <a:pPr>
              <a:defRPr sz="1400">
                <a:latin typeface="Arial"/>
              </a:defRPr>
            </a:pPr>
            <a:r>
              <a:t>Dust sensor (to measure dust levels)</a:t>
            </a:r>
          </a:p>
          <a:p>
            <a:pPr>
              <a:defRPr sz="1400">
                <a:latin typeface="Arial"/>
              </a:defRPr>
            </a:pPr>
            <a:r>
              <a:t>Proximity sensors (to avoid obstacles)</a:t>
            </a:r>
          </a:p>
          <a:p>
            <a:pPr>
              <a:defRPr sz="1400">
                <a:latin typeface="Arial"/>
              </a:defRPr>
            </a:pPr>
            <a:r>
              <a:t>3. Determine Actuators:</a:t>
            </a:r>
          </a:p>
          <a:p>
            <a:pPr>
              <a:defRPr sz="1400">
                <a:latin typeface="Arial"/>
              </a:defRPr>
            </a:pPr>
            <a:r>
              <a:t>Vacuum cleaner</a:t>
            </a:r>
          </a:p>
          <a:p>
            <a:pPr>
              <a:defRPr sz="1400">
                <a:latin typeface="Arial"/>
              </a:defRPr>
            </a:pPr>
            <a:r>
              <a:t>Wheels (for movement)</a:t>
            </a:r>
          </a:p>
          <a:p>
            <a:pPr>
              <a:defRPr sz="1400">
                <a:latin typeface="Arial"/>
              </a:defRPr>
            </a:pPr>
            <a:r>
              <a:t>4. Set the Goal: "The room is clean (dust level below a threshold)."</a:t>
            </a:r>
          </a:p>
          <a:p>
            <a:pPr>
              <a:defRPr sz="1400">
                <a:latin typeface="Arial"/>
              </a:defRPr>
            </a:pPr>
            <a:r>
              <a:t>5. Choose Agent Type:  A goal-based agent with a model of the room would be effective. It can plan a route to cover the entire room and achieve the goal of minimizing dust.</a:t>
            </a:r>
          </a:p>
          <a:p>
            <a:pPr>
              <a:defRPr sz="1400">
                <a:latin typeface="Arial"/>
              </a:defRPr>
            </a:pPr>
            <a:r>
              <a:t>Discussion: How would you implement the agent function? What challenges might arise?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Evaluating Agent Effectiveness</a:t>
            </a:r>
          </a:p>
        </p:txBody>
      </p:sp>
      <p:sp>
        <p:nvSpPr>
          <p:cNvPr id="3" name="Content Placeholder 2"/>
          <p:cNvSpPr>
            <a:spLocks noGrp="1"/>
          </p:cNvSpPr>
          <p:nvPr>
            <p:ph idx="1"/>
          </p:nvPr>
        </p:nvSpPr>
        <p:spPr/>
        <p:txBody>
          <a:bodyPr/>
          <a:lstStyle/>
          <a:p>
            <a:pPr>
              <a:defRPr sz="1200">
                <a:latin typeface="Arial"/>
              </a:defRPr>
            </a:pPr>
            <a:r>
              <a:t>Scenario: Consider a task of sorting emails into "Important" and "Spam" folders.</a:t>
            </a:r>
          </a:p>
          <a:p>
            <a:pPr>
              <a:defRPr sz="1200">
                <a:latin typeface="Arial"/>
              </a:defRPr>
            </a:pPr>
            <a:r>
              <a:t>Agent Type 1: Simple Reflex Agent (Rule-Based Filter): Uses pre-defined keywords (e.g., "Viagra," "Lottery") to classify emails.</a:t>
            </a:r>
          </a:p>
          <a:p>
            <a:pPr>
              <a:defRPr sz="1200">
                <a:latin typeface="Arial"/>
              </a:defRPr>
            </a:pPr>
            <a:r>
              <a:t>Agent Type 2: Goal-Based Agent (Machine Learning Classifier): Learns from a training dataset of labeled emails to predict whether a new email is spam.  Goal is to maximize accuracy of classification.</a:t>
            </a:r>
          </a:p>
          <a:p>
            <a:pPr>
              <a:defRPr sz="1200">
                <a:latin typeface="Arial"/>
              </a:defRPr>
            </a:pPr>
            <a:r>
              <a:t>Performance Metrics:</a:t>
            </a:r>
          </a:p>
          <a:p>
            <a:pPr>
              <a:defRPr sz="1200">
                <a:latin typeface="Arial"/>
              </a:defRPr>
            </a:pPr>
            <a:r>
              <a:t>Accuracy: Percentage of correctly classified emails.</a:t>
            </a:r>
          </a:p>
          <a:p>
            <a:pPr>
              <a:defRPr sz="1200">
                <a:latin typeface="Arial"/>
              </a:defRPr>
            </a:pPr>
            <a:r>
              <a:t>Precision: Of the emails classified as "Important," what percentage are actually important?</a:t>
            </a:r>
          </a:p>
          <a:p>
            <a:pPr>
              <a:defRPr sz="1200">
                <a:latin typeface="Arial"/>
              </a:defRPr>
            </a:pPr>
            <a:r>
              <a:t>Recall: Of all the truly important emails, what percentage were correctly classified as "Important?"</a:t>
            </a:r>
          </a:p>
          <a:p>
            <a:pPr>
              <a:defRPr sz="1200">
                <a:latin typeface="Arial"/>
              </a:defRPr>
            </a:pPr>
            <a:r>
              <a:t>Evaluation: The machine learning classifier (goal-based agent) would likely outperform the rule-based filter (simple reflex agent) because it can adapt to new spam techniques and identify subtle patterns. However, it requires a training dataset and may be computationally more expensive. 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